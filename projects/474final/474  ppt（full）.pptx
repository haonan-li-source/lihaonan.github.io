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A3BBC-F0BB-4611-8F83-C577445ECFEC}" v="3" dt="2026-05-08T18:55:21.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10"/>
  </p:normalViewPr>
  <p:slideViewPr>
    <p:cSldViewPr snapToGrid="0" snapToObjects="1">
      <p:cViewPr varScale="1">
        <p:scale>
          <a:sx n="77" d="100"/>
          <a:sy n="77" d="100"/>
        </p:scale>
        <p:origin x="57" y="4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540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STAT 474 final project on predicting which bank clients subscribe to term deposits under class imbalance. I'm [Name], joined by [Names].
[transition cue] I will begin with the targeting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banks rely on telemarketing to sell term deposits. Every call has a cost, and every missed subscriber is lost revenue. So the bank wants a model that ranks clients by subscription likelihood before any outreach. Our project answers five research questions, the most important being: which methods best identify subscribers when the positive class is rare? Throughout the talk, keep this two-by-two trade-off in mind: false negatives lose revenue, and false positives waste call cost.
[transition cue] Now let's look at the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 from the UCI Bank Marketing repository, originally studied by Moro and colleagues in 2014. We have 41,188 customers and 20 predictors after preprocessing. The catch is that only 11.27 percent of clients actually subscribed. A trivial classifier that says No to everyone reaches 88.73 percent accuracy, but recovers zero subscribers. So accuracy is a trap. Throughout the project, we evaluated models with PR-AUC, F1, recall, and precision instead. Class imbalance is the central reason behind every modeling decision later in this talk.
[transition cue] Three preprocessing decisions follow directly from this challenge.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preprocessing decisions that any auditor will ask about. First, we removed call duration. It is only known after the call ends, so including it would leak post-contact information into a pre-contact prediction model. Second, pdays uses 999 to mark clients never contacted before, which is a sentinel, not a number. We split it into a binary flag and a numeric day count. Third, the unknown level in categorical variables is kept, not deleted or imputed, because missingness itself can carry operational signal. These choices preserve information without leaking it.
[transition cue] Speaker B will now walk through what the data showed 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gave us three actionable signals. Figure 1 shows that prior contact and prior campaign success are massively predictive: 63.83 percent subscription among previously contacted clients versus 9.26 percent otherwise. Cellular contact also beats telephone contact, and certain months, especially March, October, and December, beat the baseline. Figure 3 shows the macroeconomic predictors carry near-duplicate information: emp.var.rate and euribor3m correlate at 0.97. This redundancy directly motivates the regularization, tree ensembles, and PCA we compare next.
[transition cue] Here is the full pipeline that produced our final comparison.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has three separate decisions. First, model parameters are tuned inside the training set with five-fold cross-validation, using PR-AUC because the Yes class is rare. Second, every training observation gets an out-of-fold probability from a model that did not train on that observation; those probabilities are used to choose the F1-maximizing threshold. Third, the held-out test set is touched only once after parameters and thresholds are locked. The positive class is also up-weighted during fitting so subscribers carry more influence than the majority No class.
[transition cue] Six models now compete under the same validation protocol.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models share folds and the same evaluation protocol. Logistic regression is the linear baseline. LASSO adds an L1 penalty, and lambda is chosen by five-fold PR-AUC. Naive Bayes only compares Laplace smoothing at 0 versus 1. Random Forest tunes mtry and minimum node size; the best setup is conservative, with feature subsampling and larger leaves. Weighted XGBoost searches sampled tree settings with class weights. PCA plus logistic is the important caveat: 38 components are not CV-selected; they come from the 95 percent cumulative variance rule, and cross-validation evaluates that full PCA-logistic pipeline.
[transition cue] Speaker C will show the cross-validated comparison and threshold choices.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Cross-validated PR-AUC, our primary metric for model complexity, narrows the field. Random Forest and Weighted XGBoost lead by a hair, while Naive Bayes is well behind, confirming the independence-assumption problem. After that, threshold selection is a separate step using out-of-fold probabilities and cross-validated F1. Random Forest peaks at 0.24, linear models around 0.65, and Naive Bayes needs 0.94, so one universal 0.50 cutoff would be misleading. Each model carries its own cross-validated threshold into the test-set evaluation.
[transition cue] Now the held-out test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set, Weighted XGBoost wins on F1, PR-AUC, and ROC-AUC. It identifies 554 of 928 true subscribers, or about 60 percent recall, with 634 false positives. Random Forest is essentially tied, with marginally higher precision but slightly lower recall, missing 11 more subscribers. The linear models stay competitive given their simplicity but fall short on PR-AUC, indicating weaker ranking of rare positives. Naive Bayes is last, as its independence assumption clashes with correlated macro variables. The all-No baseline would have 88.73 percent accuracy with zero F1.
[transition cue] What is the model actually using?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The confusion matrix shows the trade-off in concrete numbers: 554 true positives and 634 false positives at our tuned 0.65 threshold. The importance chart says the model relies first on macroeconomic conditions: employment levels, employment variation, three-month Euribor, and consumer confidence. Then it uses campaign signals: prior success, contact month, repeated outreach, and contact channel. One caveat: gain importance measures contribution to split quality, not direction or causation. Use it to focus marketing attention, not to claim causal effects.
[transition cue] We close with limitations and our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 is Weighted XGBoost as the primary targeting model, Random Forest as a precision-leaning backup, and logistic models as interpretable benchmarks. Four limitations matter. Use time-based validation because macro conditions change. Set thresholds with a business cost-benefit matrix, not F1 alone. Check calibration, and study fairness across customer segments. Thank you.
[transition cue]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take your questions about the data, validation design, model comparison, or deployment limitations.
[transition cue] 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microsoft.com/office/2007/relationships/hdphoto" Target="../media/hdphoto1.wdp"/><Relationship Id="rId5" Type="http://schemas.openxmlformats.org/officeDocument/2006/relationships/tags" Target="../tags/tag5.xml"/><Relationship Id="rId10" Type="http://schemas.openxmlformats.org/officeDocument/2006/relationships/image" Target="../media/image9.png"/><Relationship Id="rId4" Type="http://schemas.openxmlformats.org/officeDocument/2006/relationships/tags" Target="../tags/tag4.xm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6" Type="http://schemas.openxmlformats.org/officeDocument/2006/relationships/notesSlide" Target="../notesSlides/notesSlide11.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slideLayout" Target="../slideLayouts/slideLayout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tags" Target="../tags/tag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1F4E79"/>
          </a:solidFill>
          <a:ln w="12700">
            <a:solidFill>
              <a:srgbClr val="1F4E79"/>
            </a:solidFill>
            <a:prstDash val="solid"/>
          </a:ln>
        </p:spPr>
      </p:sp>
      <p:sp>
        <p:nvSpPr>
          <p:cNvPr id="3" name="Shape 1"/>
          <p:cNvSpPr/>
          <p:nvPr/>
        </p:nvSpPr>
        <p:spPr>
          <a:xfrm>
            <a:off x="201168" y="0"/>
            <a:ext cx="73152" cy="6858000"/>
          </a:xfrm>
          <a:prstGeom prst="rect">
            <a:avLst/>
          </a:prstGeom>
          <a:solidFill>
            <a:srgbClr val="ED7D31"/>
          </a:solidFill>
          <a:ln w="12700">
            <a:solidFill>
              <a:srgbClr val="ED7D31"/>
            </a:solidFill>
            <a:prstDash val="solid"/>
          </a:ln>
        </p:spPr>
      </p:sp>
      <p:sp>
        <p:nvSpPr>
          <p:cNvPr id="4" name="Text 2"/>
          <p:cNvSpPr/>
          <p:nvPr/>
        </p:nvSpPr>
        <p:spPr>
          <a:xfrm>
            <a:off x="1417320" y="1051560"/>
            <a:ext cx="9509760" cy="1078992"/>
          </a:xfrm>
          <a:prstGeom prst="rect">
            <a:avLst/>
          </a:prstGeom>
          <a:noFill/>
          <a:ln/>
        </p:spPr>
        <p:txBody>
          <a:bodyPr wrap="square" lIns="0" tIns="0" rIns="0" bIns="0" rtlCol="0" anchor="ctr">
            <a:normAutofit/>
          </a:bodyPr>
          <a:lstStyle/>
          <a:p>
            <a:pPr marL="0" indent="0" algn="ctr">
              <a:buNone/>
            </a:pPr>
            <a:r>
              <a:rPr lang="en-US" sz="3100" b="1" dirty="0">
                <a:solidFill>
                  <a:srgbClr val="1F4E79"/>
                </a:solidFill>
                <a:latin typeface="Arial" pitchFamily="34" charset="0"/>
                <a:ea typeface="Arial" pitchFamily="34" charset="-122"/>
                <a:cs typeface="Arial" pitchFamily="34" charset="-120"/>
              </a:rPr>
              <a:t>Finding Likely Term-Deposit Subscribers</a:t>
            </a:r>
            <a:endParaRPr lang="en-US" sz="3100" dirty="0"/>
          </a:p>
          <a:p>
            <a:pPr marL="0" indent="0" algn="ctr">
              <a:buNone/>
            </a:pPr>
            <a:r>
              <a:rPr lang="en-US" sz="3100" b="1" dirty="0">
                <a:solidFill>
                  <a:srgbClr val="1F4E79"/>
                </a:solidFill>
                <a:latin typeface="Arial" pitchFamily="34" charset="0"/>
                <a:ea typeface="Arial" pitchFamily="34" charset="-122"/>
                <a:cs typeface="Arial" pitchFamily="34" charset="-120"/>
              </a:rPr>
              <a:t>Under Class Imbalance</a:t>
            </a:r>
            <a:endParaRPr lang="en-US" sz="3100" dirty="0"/>
          </a:p>
        </p:txBody>
      </p:sp>
      <p:sp>
        <p:nvSpPr>
          <p:cNvPr id="5" name="Text 3"/>
          <p:cNvSpPr/>
          <p:nvPr/>
        </p:nvSpPr>
        <p:spPr>
          <a:xfrm>
            <a:off x="2057400" y="2331720"/>
            <a:ext cx="8183880" cy="320040"/>
          </a:xfrm>
          <a:prstGeom prst="rect">
            <a:avLst/>
          </a:prstGeom>
          <a:noFill/>
          <a:ln/>
        </p:spPr>
        <p:txBody>
          <a:bodyPr wrap="square" lIns="0" tIns="0" rIns="0" bIns="0" rtlCol="0" anchor="t">
            <a:normAutofit/>
          </a:bodyPr>
          <a:lstStyle/>
          <a:p>
            <a:pPr marL="0" indent="0" algn="ctr">
              <a:buNone/>
            </a:pPr>
            <a:r>
              <a:rPr lang="en-US" sz="2000" dirty="0">
                <a:solidFill>
                  <a:srgbClr val="2E75B6"/>
                </a:solidFill>
                <a:latin typeface="Arial" pitchFamily="34" charset="0"/>
                <a:ea typeface="Arial" pitchFamily="34" charset="-122"/>
                <a:cs typeface="Arial" pitchFamily="34" charset="-120"/>
              </a:rPr>
              <a:t>A Machine Learning Study of Bank Telemarketing</a:t>
            </a:r>
            <a:endParaRPr lang="en-US" sz="2000" dirty="0"/>
          </a:p>
        </p:txBody>
      </p:sp>
      <p:sp>
        <p:nvSpPr>
          <p:cNvPr id="6" name="Shape 4"/>
          <p:cNvSpPr/>
          <p:nvPr/>
        </p:nvSpPr>
        <p:spPr>
          <a:xfrm>
            <a:off x="3749040" y="2834640"/>
            <a:ext cx="4709160" cy="0"/>
          </a:xfrm>
          <a:prstGeom prst="line">
            <a:avLst/>
          </a:prstGeom>
          <a:noFill/>
          <a:ln w="12700">
            <a:solidFill>
              <a:srgbClr val="D9D9D9"/>
            </a:solidFill>
            <a:prstDash val="solid"/>
          </a:ln>
        </p:spPr>
      </p:sp>
      <p:sp>
        <p:nvSpPr>
          <p:cNvPr id="7" name="Text 5"/>
          <p:cNvSpPr/>
          <p:nvPr/>
        </p:nvSpPr>
        <p:spPr>
          <a:xfrm>
            <a:off x="2011680" y="3072384"/>
            <a:ext cx="8229600" cy="310896"/>
          </a:xfrm>
          <a:prstGeom prst="rect">
            <a:avLst/>
          </a:prstGeom>
          <a:noFill/>
          <a:ln/>
        </p:spPr>
        <p:txBody>
          <a:bodyPr wrap="square" lIns="0" tIns="0" rIns="0" bIns="0" rtlCol="0" anchor="t">
            <a:normAutofit/>
          </a:bodyPr>
          <a:lstStyle/>
          <a:p>
            <a:pPr marL="0" indent="0" algn="ctr">
              <a:buNone/>
            </a:pPr>
            <a:r>
              <a:rPr lang="en-US" sz="1700" dirty="0">
                <a:solidFill>
                  <a:srgbClr val="1F2937"/>
                </a:solidFill>
                <a:latin typeface="Arial" pitchFamily="34" charset="0"/>
                <a:ea typeface="Arial" pitchFamily="34" charset="-122"/>
                <a:cs typeface="Arial" pitchFamily="34" charset="-120"/>
              </a:rPr>
              <a:t>Chaoran Chen  ·  Haoyang Liu  ·  Haonan Li</a:t>
            </a:r>
            <a:endParaRPr lang="en-US" sz="1700" dirty="0"/>
          </a:p>
        </p:txBody>
      </p:sp>
      <p:sp>
        <p:nvSpPr>
          <p:cNvPr id="8" name="Text 6"/>
          <p:cNvSpPr/>
          <p:nvPr/>
        </p:nvSpPr>
        <p:spPr>
          <a:xfrm>
            <a:off x="2011680" y="3502152"/>
            <a:ext cx="8229600" cy="237744"/>
          </a:xfrm>
          <a:prstGeom prst="rect">
            <a:avLst/>
          </a:prstGeom>
          <a:noFill/>
          <a:ln/>
        </p:spPr>
        <p:txBody>
          <a:bodyPr wrap="square" lIns="0" tIns="0" rIns="0" bIns="0" rtlCol="0" anchor="t">
            <a:normAutofit/>
          </a:bodyPr>
          <a:lstStyle/>
          <a:p>
            <a:pPr marL="0" indent="0" algn="ctr">
              <a:buNone/>
            </a:pPr>
            <a:r>
              <a:rPr lang="en-US" sz="1250" dirty="0">
                <a:solidFill>
                  <a:srgbClr val="7F7F7F"/>
                </a:solidFill>
                <a:latin typeface="Arial" pitchFamily="34" charset="0"/>
                <a:ea typeface="Arial" pitchFamily="34" charset="-122"/>
                <a:cs typeface="Arial" pitchFamily="34" charset="-120"/>
              </a:rPr>
              <a:t> 474   ·  Final Project  ·  2026</a:t>
            </a:r>
            <a:endParaRPr lang="en-US" sz="1250" dirty="0"/>
          </a:p>
        </p:txBody>
      </p:sp>
      <p:sp>
        <p:nvSpPr>
          <p:cNvPr id="9" name="Shape 7"/>
          <p:cNvSpPr/>
          <p:nvPr/>
        </p:nvSpPr>
        <p:spPr>
          <a:xfrm>
            <a:off x="3930098" y="4597445"/>
            <a:ext cx="4125568" cy="1546628"/>
          </a:xfrm>
          <a:prstGeom prst="roundRect">
            <a:avLst/>
          </a:prstGeom>
          <a:solidFill>
            <a:srgbClr val="FFFFFF">
              <a:alpha val="0"/>
            </a:srgbClr>
          </a:solidFill>
          <a:ln w="11430">
            <a:solidFill>
              <a:srgbClr val="D9D9D9"/>
            </a:solidFill>
            <a:prstDash val="solid"/>
          </a:ln>
        </p:spPr>
      </p:sp>
      <p:sp>
        <p:nvSpPr>
          <p:cNvPr id="11" name="Text 9"/>
          <p:cNvSpPr/>
          <p:nvPr/>
        </p:nvSpPr>
        <p:spPr>
          <a:xfrm>
            <a:off x="5715000" y="6547104"/>
            <a:ext cx="5989320" cy="164592"/>
          </a:xfrm>
          <a:prstGeom prst="rect">
            <a:avLst/>
          </a:prstGeom>
          <a:noFill/>
          <a:ln/>
        </p:spPr>
        <p:txBody>
          <a:bodyPr wrap="square" lIns="0" tIns="0" rIns="0" bIns="0" rtlCol="0" anchor="t">
            <a:normAutofit/>
          </a:bodyPr>
          <a:lstStyle/>
          <a:p>
            <a:pPr marL="0" indent="0" algn="r">
              <a:buNone/>
            </a:pPr>
            <a:r>
              <a:rPr lang="en-US" sz="780" dirty="0">
                <a:solidFill>
                  <a:srgbClr val="7F7F7F"/>
                </a:solidFill>
                <a:latin typeface="Arial" pitchFamily="34" charset="0"/>
                <a:ea typeface="Arial" pitchFamily="34" charset="-122"/>
                <a:cs typeface="Arial" pitchFamily="34" charset="-120"/>
              </a:rPr>
              <a:t> 474 Final</a:t>
            </a:r>
          </a:p>
        </p:txBody>
      </p:sp>
      <p:pic>
        <p:nvPicPr>
          <p:cNvPr id="13" name="图片 12">
            <a:extLst>
              <a:ext uri="{FF2B5EF4-FFF2-40B4-BE49-F238E27FC236}">
                <a16:creationId xmlns:a16="http://schemas.microsoft.com/office/drawing/2014/main" id="{0B235EE9-6806-AD1D-7075-CDF23F3F4EC3}"/>
              </a:ext>
            </a:extLst>
          </p:cNvPr>
          <p:cNvPicPr>
            <a:picLocks noChangeAspect="1"/>
          </p:cNvPicPr>
          <p:nvPr/>
        </p:nvPicPr>
        <p:blipFill>
          <a:blip r:embed="rId3"/>
          <a:stretch>
            <a:fillRect/>
          </a:stretch>
        </p:blipFill>
        <p:spPr>
          <a:xfrm>
            <a:off x="3930098" y="4741844"/>
            <a:ext cx="4075369" cy="12578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The Targeting Problem</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sp>
      <p:sp>
        <p:nvSpPr>
          <p:cNvPr id="4" name="Shape 2"/>
          <p:cNvSpPr/>
          <p:nvPr/>
        </p:nvSpPr>
        <p:spPr>
          <a:xfrm>
            <a:off x="681228" y="2281030"/>
            <a:ext cx="64008" cy="64008"/>
          </a:xfrm>
          <a:prstGeom prst="ellipse">
            <a:avLst/>
          </a:prstGeom>
          <a:solidFill>
            <a:srgbClr val="ED7D31"/>
          </a:solidFill>
          <a:ln w="12700">
            <a:solidFill>
              <a:srgbClr val="ED7D31">
                <a:alpha val="0"/>
              </a:srgbClr>
            </a:solidFill>
            <a:prstDash val="solid"/>
          </a:ln>
        </p:spPr>
      </p:sp>
      <p:sp>
        <p:nvSpPr>
          <p:cNvPr id="5" name="Text 3"/>
          <p:cNvSpPr/>
          <p:nvPr/>
        </p:nvSpPr>
        <p:spPr>
          <a:xfrm>
            <a:off x="1069848" y="2292858"/>
            <a:ext cx="4425696" cy="219456"/>
          </a:xfrm>
          <a:prstGeom prst="rect">
            <a:avLst/>
          </a:prstGeom>
          <a:noFill/>
          <a:ln/>
        </p:spPr>
        <p:txBody>
          <a:bodyPr wrap="square" lIns="0" tIns="0" rIns="0" bIns="0" rtlCol="0" anchor="t">
            <a:normAutofit fontScale="92500" lnSpcReduction="10000"/>
          </a:bodyPr>
          <a:lstStyle/>
          <a:p>
            <a:pPr marL="0" indent="0" algn="l">
              <a:buNone/>
            </a:pPr>
            <a:r>
              <a:rPr lang="en-US" sz="1700" dirty="0">
                <a:solidFill>
                  <a:srgbClr val="1F2937"/>
                </a:solidFill>
                <a:latin typeface="Arial" pitchFamily="34" charset="0"/>
                <a:ea typeface="Arial" pitchFamily="34" charset="-122"/>
                <a:cs typeface="Arial" pitchFamily="34" charset="-120"/>
              </a:rPr>
              <a:t>Costly calls sell term deposits</a:t>
            </a:r>
            <a:endParaRPr lang="en-US" sz="1700" dirty="0"/>
          </a:p>
        </p:txBody>
      </p:sp>
      <p:sp>
        <p:nvSpPr>
          <p:cNvPr id="6" name="Shape 4"/>
          <p:cNvSpPr/>
          <p:nvPr/>
        </p:nvSpPr>
        <p:spPr>
          <a:xfrm>
            <a:off x="681228" y="2783950"/>
            <a:ext cx="64008" cy="64008"/>
          </a:xfrm>
          <a:prstGeom prst="ellipse">
            <a:avLst/>
          </a:prstGeom>
          <a:solidFill>
            <a:srgbClr val="ED7D31"/>
          </a:solidFill>
          <a:ln w="12700">
            <a:solidFill>
              <a:srgbClr val="ED7D31">
                <a:alpha val="0"/>
              </a:srgbClr>
            </a:solidFill>
            <a:prstDash val="solid"/>
          </a:ln>
        </p:spPr>
      </p:sp>
      <p:sp>
        <p:nvSpPr>
          <p:cNvPr id="7" name="Text 5"/>
          <p:cNvSpPr/>
          <p:nvPr/>
        </p:nvSpPr>
        <p:spPr>
          <a:xfrm>
            <a:off x="1069848" y="2759897"/>
            <a:ext cx="4425696" cy="219456"/>
          </a:xfrm>
          <a:prstGeom prst="rect">
            <a:avLst/>
          </a:prstGeom>
          <a:noFill/>
          <a:ln/>
        </p:spPr>
        <p:txBody>
          <a:bodyPr wrap="square" lIns="0" tIns="0" rIns="0" bIns="0" rtlCol="0" anchor="t">
            <a:normAutofit fontScale="92500" lnSpcReduction="10000"/>
          </a:bodyPr>
          <a:lstStyle/>
          <a:p>
            <a:pPr marL="0" indent="0" algn="l">
              <a:buNone/>
            </a:pPr>
            <a:r>
              <a:rPr lang="en-US" sz="1700" dirty="0">
                <a:solidFill>
                  <a:srgbClr val="1F2937"/>
                </a:solidFill>
                <a:latin typeface="Arial" pitchFamily="34" charset="0"/>
                <a:ea typeface="Arial" pitchFamily="34" charset="-122"/>
                <a:cs typeface="Arial" pitchFamily="34" charset="-120"/>
              </a:rPr>
              <a:t>False positives waste call cost</a:t>
            </a:r>
            <a:endParaRPr lang="en-US" sz="1700" dirty="0"/>
          </a:p>
        </p:txBody>
      </p:sp>
      <p:sp>
        <p:nvSpPr>
          <p:cNvPr id="8" name="Shape 6"/>
          <p:cNvSpPr/>
          <p:nvPr/>
        </p:nvSpPr>
        <p:spPr>
          <a:xfrm>
            <a:off x="681228" y="3286870"/>
            <a:ext cx="64008" cy="64008"/>
          </a:xfrm>
          <a:prstGeom prst="ellipse">
            <a:avLst/>
          </a:prstGeom>
          <a:solidFill>
            <a:srgbClr val="ED7D31"/>
          </a:solidFill>
          <a:ln w="12700">
            <a:solidFill>
              <a:srgbClr val="ED7D31">
                <a:alpha val="0"/>
              </a:srgbClr>
            </a:solidFill>
            <a:prstDash val="solid"/>
          </a:ln>
        </p:spPr>
      </p:sp>
      <p:sp>
        <p:nvSpPr>
          <p:cNvPr id="9" name="Text 7"/>
          <p:cNvSpPr/>
          <p:nvPr/>
        </p:nvSpPr>
        <p:spPr>
          <a:xfrm>
            <a:off x="1051560" y="3241150"/>
            <a:ext cx="4425696" cy="219456"/>
          </a:xfrm>
          <a:prstGeom prst="rect">
            <a:avLst/>
          </a:prstGeom>
          <a:noFill/>
          <a:ln/>
        </p:spPr>
        <p:txBody>
          <a:bodyPr wrap="square" lIns="0" tIns="0" rIns="0" bIns="0" rtlCol="0" anchor="t">
            <a:normAutofit fontScale="92500" lnSpcReduction="10000"/>
          </a:bodyPr>
          <a:lstStyle/>
          <a:p>
            <a:pPr marL="0" indent="0" algn="l">
              <a:buNone/>
            </a:pPr>
            <a:r>
              <a:rPr lang="en-US" sz="1700" dirty="0">
                <a:solidFill>
                  <a:srgbClr val="1F2937"/>
                </a:solidFill>
                <a:latin typeface="Arial" pitchFamily="34" charset="0"/>
                <a:ea typeface="Arial" pitchFamily="34" charset="-122"/>
                <a:cs typeface="Arial" pitchFamily="34" charset="-120"/>
              </a:rPr>
              <a:t>False negatives lose revenue</a:t>
            </a:r>
            <a:endParaRPr lang="en-US" sz="1700" dirty="0"/>
          </a:p>
        </p:txBody>
      </p:sp>
      <p:sp>
        <p:nvSpPr>
          <p:cNvPr id="10" name="Shape 8"/>
          <p:cNvSpPr/>
          <p:nvPr/>
        </p:nvSpPr>
        <p:spPr>
          <a:xfrm>
            <a:off x="681228" y="3789790"/>
            <a:ext cx="64008" cy="64008"/>
          </a:xfrm>
          <a:prstGeom prst="ellipse">
            <a:avLst/>
          </a:prstGeom>
          <a:solidFill>
            <a:srgbClr val="ED7D31"/>
          </a:solidFill>
          <a:ln w="12700">
            <a:solidFill>
              <a:srgbClr val="ED7D31">
                <a:alpha val="0"/>
              </a:srgbClr>
            </a:solidFill>
            <a:prstDash val="solid"/>
          </a:ln>
        </p:spPr>
      </p:sp>
      <p:sp>
        <p:nvSpPr>
          <p:cNvPr id="11" name="Text 9"/>
          <p:cNvSpPr/>
          <p:nvPr/>
        </p:nvSpPr>
        <p:spPr>
          <a:xfrm>
            <a:off x="1051560" y="3685032"/>
            <a:ext cx="4425696" cy="219456"/>
          </a:xfrm>
          <a:prstGeom prst="rect">
            <a:avLst/>
          </a:prstGeom>
          <a:noFill/>
          <a:ln/>
        </p:spPr>
        <p:txBody>
          <a:bodyPr wrap="square" lIns="0" tIns="0" rIns="0" bIns="0" rtlCol="0" anchor="t">
            <a:normAutofit fontScale="92500" lnSpcReduction="10000"/>
          </a:bodyPr>
          <a:lstStyle/>
          <a:p>
            <a:pPr marL="0" indent="0" algn="l">
              <a:buNone/>
            </a:pPr>
            <a:r>
              <a:rPr lang="en-US" sz="1700" dirty="0">
                <a:solidFill>
                  <a:srgbClr val="1F2937"/>
                </a:solidFill>
                <a:latin typeface="Arial" pitchFamily="34" charset="0"/>
                <a:ea typeface="Arial" pitchFamily="34" charset="-122"/>
                <a:cs typeface="Arial" pitchFamily="34" charset="-120"/>
              </a:rPr>
              <a:t>Goal: rank clients before the call</a:t>
            </a:r>
            <a:endParaRPr lang="en-US" sz="1700" dirty="0"/>
          </a:p>
        </p:txBody>
      </p:sp>
      <p:sp>
        <p:nvSpPr>
          <p:cNvPr id="12" name="Text 10"/>
          <p:cNvSpPr/>
          <p:nvPr/>
        </p:nvSpPr>
        <p:spPr>
          <a:xfrm>
            <a:off x="817493" y="5230368"/>
            <a:ext cx="11166613" cy="457200"/>
          </a:xfrm>
          <a:prstGeom prst="rect">
            <a:avLst/>
          </a:prstGeom>
          <a:noFill/>
          <a:ln/>
        </p:spPr>
        <p:txBody>
          <a:bodyPr wrap="square" lIns="0" tIns="0" rIns="0" bIns="0" rtlCol="0" anchor="t">
            <a:noAutofit/>
          </a:bodyPr>
          <a:lstStyle/>
          <a:p>
            <a:pPr marL="0" indent="0" algn="l">
              <a:buNone/>
            </a:pPr>
            <a:r>
              <a:rPr lang="en-US" sz="3600" b="1" dirty="0">
                <a:solidFill>
                  <a:srgbClr val="1F4E79"/>
                </a:solidFill>
                <a:latin typeface="Arial" pitchFamily="34" charset="0"/>
                <a:ea typeface="Arial" pitchFamily="34" charset="-122"/>
                <a:cs typeface="Arial" pitchFamily="34" charset="-120"/>
              </a:rPr>
              <a:t>Maximize positive recall under workable precision</a:t>
            </a:r>
            <a:endParaRPr lang="en-US" sz="3600" dirty="0"/>
          </a:p>
        </p:txBody>
      </p:sp>
      <p:sp>
        <p:nvSpPr>
          <p:cNvPr id="13" name="Text 11"/>
          <p:cNvSpPr/>
          <p:nvPr/>
        </p:nvSpPr>
        <p:spPr>
          <a:xfrm>
            <a:off x="6400800" y="804672"/>
            <a:ext cx="2011680" cy="201168"/>
          </a:xfrm>
          <a:prstGeom prst="rect">
            <a:avLst/>
          </a:prstGeom>
          <a:noFill/>
          <a:ln/>
        </p:spPr>
        <p:txBody>
          <a:bodyPr wrap="square" lIns="0" tIns="0" rIns="0" bIns="0" rtlCol="0" anchor="t">
            <a:normAutofit/>
          </a:bodyPr>
          <a:lstStyle/>
          <a:p>
            <a:pPr marL="0" indent="0" algn="ctr">
              <a:buNone/>
            </a:pPr>
            <a:r>
              <a:rPr lang="en-US" sz="1100" dirty="0">
                <a:solidFill>
                  <a:srgbClr val="7F7F7F"/>
                </a:solidFill>
                <a:latin typeface="Arial" pitchFamily="34" charset="0"/>
                <a:ea typeface="Arial" pitchFamily="34" charset="-122"/>
                <a:cs typeface="Arial" pitchFamily="34" charset="-120"/>
              </a:rPr>
              <a:t>Predicted No</a:t>
            </a:r>
            <a:endParaRPr lang="en-US" sz="1100" dirty="0"/>
          </a:p>
        </p:txBody>
      </p:sp>
      <p:sp>
        <p:nvSpPr>
          <p:cNvPr id="14" name="Text 12"/>
          <p:cNvSpPr/>
          <p:nvPr/>
        </p:nvSpPr>
        <p:spPr>
          <a:xfrm>
            <a:off x="8915400" y="804672"/>
            <a:ext cx="2011680" cy="201168"/>
          </a:xfrm>
          <a:prstGeom prst="rect">
            <a:avLst/>
          </a:prstGeom>
          <a:noFill/>
          <a:ln/>
        </p:spPr>
        <p:txBody>
          <a:bodyPr wrap="square" lIns="0" tIns="0" rIns="0" bIns="0" rtlCol="0" anchor="t">
            <a:normAutofit/>
          </a:bodyPr>
          <a:lstStyle/>
          <a:p>
            <a:pPr marL="0" indent="0" algn="ctr">
              <a:buNone/>
            </a:pPr>
            <a:r>
              <a:rPr lang="en-US" sz="1100" dirty="0">
                <a:solidFill>
                  <a:srgbClr val="7F7F7F"/>
                </a:solidFill>
                <a:latin typeface="Arial" pitchFamily="34" charset="0"/>
                <a:ea typeface="Arial" pitchFamily="34" charset="-122"/>
                <a:cs typeface="Arial" pitchFamily="34" charset="-120"/>
              </a:rPr>
              <a:t>Predicted Yes</a:t>
            </a:r>
            <a:endParaRPr lang="en-US" sz="1100" dirty="0"/>
          </a:p>
        </p:txBody>
      </p:sp>
      <p:sp>
        <p:nvSpPr>
          <p:cNvPr id="15" name="Text 13"/>
          <p:cNvSpPr/>
          <p:nvPr/>
        </p:nvSpPr>
        <p:spPr>
          <a:xfrm>
            <a:off x="5166360" y="1691640"/>
            <a:ext cx="658368" cy="182880"/>
          </a:xfrm>
          <a:prstGeom prst="rect">
            <a:avLst/>
          </a:prstGeom>
          <a:noFill/>
          <a:ln/>
        </p:spPr>
        <p:txBody>
          <a:bodyPr wrap="square" lIns="0" tIns="0" rIns="0" bIns="0" rtlCol="0" anchor="t">
            <a:normAutofit/>
          </a:bodyPr>
          <a:lstStyle/>
          <a:p>
            <a:pPr marL="0" indent="0" algn="r">
              <a:buNone/>
            </a:pPr>
            <a:r>
              <a:rPr lang="en-US" sz="1100" dirty="0">
                <a:solidFill>
                  <a:srgbClr val="7F7F7F"/>
                </a:solidFill>
                <a:latin typeface="Arial" pitchFamily="34" charset="0"/>
                <a:ea typeface="Arial" pitchFamily="34" charset="-122"/>
                <a:cs typeface="Arial" pitchFamily="34" charset="-120"/>
              </a:rPr>
              <a:t>Actual No</a:t>
            </a:r>
            <a:endParaRPr lang="en-US" sz="1100" dirty="0"/>
          </a:p>
        </p:txBody>
      </p:sp>
      <p:sp>
        <p:nvSpPr>
          <p:cNvPr id="16" name="Text 14"/>
          <p:cNvSpPr/>
          <p:nvPr/>
        </p:nvSpPr>
        <p:spPr>
          <a:xfrm>
            <a:off x="5129784" y="3182112"/>
            <a:ext cx="694944" cy="182880"/>
          </a:xfrm>
          <a:prstGeom prst="rect">
            <a:avLst/>
          </a:prstGeom>
          <a:noFill/>
          <a:ln/>
        </p:spPr>
        <p:txBody>
          <a:bodyPr wrap="square" lIns="0" tIns="0" rIns="0" bIns="0" rtlCol="0" anchor="t">
            <a:normAutofit/>
          </a:bodyPr>
          <a:lstStyle/>
          <a:p>
            <a:pPr marL="0" indent="0" algn="r">
              <a:buNone/>
            </a:pPr>
            <a:r>
              <a:rPr lang="en-US" sz="1100" dirty="0">
                <a:solidFill>
                  <a:srgbClr val="7F7F7F"/>
                </a:solidFill>
                <a:latin typeface="Arial" pitchFamily="34" charset="0"/>
                <a:ea typeface="Arial" pitchFamily="34" charset="-122"/>
                <a:cs typeface="Arial" pitchFamily="34" charset="-120"/>
              </a:rPr>
              <a:t>Actual Yes</a:t>
            </a:r>
            <a:endParaRPr lang="en-US" sz="1100" dirty="0"/>
          </a:p>
        </p:txBody>
      </p:sp>
      <p:sp>
        <p:nvSpPr>
          <p:cNvPr id="17" name="Shape 15"/>
          <p:cNvSpPr/>
          <p:nvPr/>
        </p:nvSpPr>
        <p:spPr>
          <a:xfrm>
            <a:off x="5897880" y="1097280"/>
            <a:ext cx="2423160" cy="1481328"/>
          </a:xfrm>
          <a:prstGeom prst="rect">
            <a:avLst/>
          </a:prstGeom>
          <a:solidFill>
            <a:srgbClr val="F2F2F2"/>
          </a:solidFill>
          <a:ln w="8890">
            <a:solidFill>
              <a:srgbClr val="D9D9D9"/>
            </a:solidFill>
            <a:prstDash val="solid"/>
          </a:ln>
        </p:spPr>
      </p:sp>
      <p:sp>
        <p:nvSpPr>
          <p:cNvPr id="18" name="Text 16"/>
          <p:cNvSpPr/>
          <p:nvPr/>
        </p:nvSpPr>
        <p:spPr>
          <a:xfrm>
            <a:off x="5897880" y="1481328"/>
            <a:ext cx="2423160" cy="320040"/>
          </a:xfrm>
          <a:prstGeom prst="rect">
            <a:avLst/>
          </a:prstGeom>
          <a:noFill/>
          <a:ln/>
        </p:spPr>
        <p:txBody>
          <a:bodyPr wrap="square" lIns="0" tIns="0" rIns="0" bIns="0" rtlCol="0" anchor="t">
            <a:normAutofit fontScale="92500" lnSpcReduction="10000"/>
          </a:bodyPr>
          <a:lstStyle/>
          <a:p>
            <a:pPr marL="0" indent="0" algn="ctr">
              <a:buNone/>
            </a:pPr>
            <a:r>
              <a:rPr lang="en-US" sz="2400" b="1" dirty="0">
                <a:solidFill>
                  <a:srgbClr val="7F7F7F"/>
                </a:solidFill>
                <a:latin typeface="Arial" pitchFamily="34" charset="0"/>
                <a:ea typeface="Arial" pitchFamily="34" charset="-122"/>
                <a:cs typeface="Arial" pitchFamily="34" charset="-120"/>
              </a:rPr>
              <a:t>TN</a:t>
            </a:r>
            <a:endParaRPr lang="en-US" sz="2400" dirty="0"/>
          </a:p>
        </p:txBody>
      </p:sp>
      <p:sp>
        <p:nvSpPr>
          <p:cNvPr id="19" name="Text 17"/>
          <p:cNvSpPr/>
          <p:nvPr/>
        </p:nvSpPr>
        <p:spPr>
          <a:xfrm>
            <a:off x="5897880" y="1901952"/>
            <a:ext cx="2423160" cy="228600"/>
          </a:xfrm>
          <a:prstGeom prst="rect">
            <a:avLst/>
          </a:prstGeom>
          <a:noFill/>
          <a:ln/>
        </p:spPr>
        <p:txBody>
          <a:bodyPr wrap="square" lIns="0" tIns="0" rIns="0" bIns="0" rtlCol="0" anchor="t">
            <a:normAutofit/>
          </a:bodyPr>
          <a:lstStyle/>
          <a:p>
            <a:pPr marL="0" indent="0" algn="ctr">
              <a:buNone/>
            </a:pPr>
            <a:r>
              <a:rPr lang="en-US" sz="1200" dirty="0">
                <a:solidFill>
                  <a:srgbClr val="1F2937"/>
                </a:solidFill>
                <a:latin typeface="Arial" pitchFamily="34" charset="0"/>
                <a:ea typeface="Arial" pitchFamily="34" charset="-122"/>
                <a:cs typeface="Arial" pitchFamily="34" charset="-120"/>
              </a:rPr>
              <a:t>correctly skipped</a:t>
            </a:r>
            <a:endParaRPr lang="en-US" sz="1200" dirty="0"/>
          </a:p>
        </p:txBody>
      </p:sp>
      <p:sp>
        <p:nvSpPr>
          <p:cNvPr id="20" name="Shape 18"/>
          <p:cNvSpPr/>
          <p:nvPr/>
        </p:nvSpPr>
        <p:spPr>
          <a:xfrm>
            <a:off x="8321040" y="1097280"/>
            <a:ext cx="2423160" cy="1481328"/>
          </a:xfrm>
          <a:prstGeom prst="rect">
            <a:avLst/>
          </a:prstGeom>
          <a:solidFill>
            <a:srgbClr val="FCE4D6"/>
          </a:solidFill>
          <a:ln w="8890">
            <a:solidFill>
              <a:srgbClr val="D9D9D9"/>
            </a:solidFill>
            <a:prstDash val="solid"/>
          </a:ln>
        </p:spPr>
      </p:sp>
      <p:sp>
        <p:nvSpPr>
          <p:cNvPr id="21" name="Text 19"/>
          <p:cNvSpPr/>
          <p:nvPr/>
        </p:nvSpPr>
        <p:spPr>
          <a:xfrm>
            <a:off x="8321040" y="1481328"/>
            <a:ext cx="2423160" cy="320040"/>
          </a:xfrm>
          <a:prstGeom prst="rect">
            <a:avLst/>
          </a:prstGeom>
          <a:noFill/>
          <a:ln/>
        </p:spPr>
        <p:txBody>
          <a:bodyPr wrap="square" lIns="0" tIns="0" rIns="0" bIns="0" rtlCol="0" anchor="t">
            <a:normAutofit fontScale="92500" lnSpcReduction="10000"/>
          </a:bodyPr>
          <a:lstStyle/>
          <a:p>
            <a:pPr marL="0" indent="0" algn="ctr">
              <a:buNone/>
            </a:pPr>
            <a:r>
              <a:rPr lang="en-US" sz="2400" b="1" dirty="0">
                <a:solidFill>
                  <a:srgbClr val="ED7D31"/>
                </a:solidFill>
                <a:latin typeface="Arial" pitchFamily="34" charset="0"/>
                <a:ea typeface="Arial" pitchFamily="34" charset="-122"/>
                <a:cs typeface="Arial" pitchFamily="34" charset="-120"/>
              </a:rPr>
              <a:t>FP</a:t>
            </a:r>
            <a:endParaRPr lang="en-US" sz="2400" dirty="0"/>
          </a:p>
        </p:txBody>
      </p:sp>
      <p:sp>
        <p:nvSpPr>
          <p:cNvPr id="22" name="Text 20"/>
          <p:cNvSpPr/>
          <p:nvPr/>
        </p:nvSpPr>
        <p:spPr>
          <a:xfrm>
            <a:off x="8321040" y="1901952"/>
            <a:ext cx="2423160" cy="228600"/>
          </a:xfrm>
          <a:prstGeom prst="rect">
            <a:avLst/>
          </a:prstGeom>
          <a:noFill/>
          <a:ln/>
        </p:spPr>
        <p:txBody>
          <a:bodyPr wrap="square" lIns="0" tIns="0" rIns="0" bIns="0" rtlCol="0" anchor="t">
            <a:normAutofit/>
          </a:bodyPr>
          <a:lstStyle/>
          <a:p>
            <a:pPr marL="0" indent="0" algn="ctr">
              <a:buNone/>
            </a:pPr>
            <a:r>
              <a:rPr lang="en-US" sz="1200" dirty="0">
                <a:solidFill>
                  <a:srgbClr val="1F2937"/>
                </a:solidFill>
                <a:latin typeface="Arial" pitchFamily="34" charset="0"/>
                <a:ea typeface="Arial" pitchFamily="34" charset="-122"/>
                <a:cs typeface="Arial" pitchFamily="34" charset="-120"/>
              </a:rPr>
              <a:t>wasted call</a:t>
            </a:r>
            <a:endParaRPr lang="en-US" sz="1200" dirty="0"/>
          </a:p>
        </p:txBody>
      </p:sp>
      <p:sp>
        <p:nvSpPr>
          <p:cNvPr id="23" name="Shape 21"/>
          <p:cNvSpPr/>
          <p:nvPr/>
        </p:nvSpPr>
        <p:spPr>
          <a:xfrm>
            <a:off x="5897880" y="2578608"/>
            <a:ext cx="2423160" cy="1481328"/>
          </a:xfrm>
          <a:prstGeom prst="rect">
            <a:avLst/>
          </a:prstGeom>
          <a:solidFill>
            <a:srgbClr val="FCE4D6"/>
          </a:solidFill>
          <a:ln w="8890">
            <a:solidFill>
              <a:srgbClr val="D9D9D9"/>
            </a:solidFill>
            <a:prstDash val="solid"/>
          </a:ln>
        </p:spPr>
      </p:sp>
      <p:sp>
        <p:nvSpPr>
          <p:cNvPr id="24" name="Text 22"/>
          <p:cNvSpPr/>
          <p:nvPr/>
        </p:nvSpPr>
        <p:spPr>
          <a:xfrm>
            <a:off x="5897880" y="2962656"/>
            <a:ext cx="2423160" cy="320040"/>
          </a:xfrm>
          <a:prstGeom prst="rect">
            <a:avLst/>
          </a:prstGeom>
          <a:noFill/>
          <a:ln/>
        </p:spPr>
        <p:txBody>
          <a:bodyPr wrap="square" lIns="0" tIns="0" rIns="0" bIns="0" rtlCol="0" anchor="t">
            <a:normAutofit fontScale="92500" lnSpcReduction="10000"/>
          </a:bodyPr>
          <a:lstStyle/>
          <a:p>
            <a:pPr marL="0" indent="0" algn="ctr">
              <a:buNone/>
            </a:pPr>
            <a:r>
              <a:rPr lang="en-US" sz="2400" b="1" dirty="0">
                <a:solidFill>
                  <a:srgbClr val="ED7D31"/>
                </a:solidFill>
                <a:latin typeface="Arial" pitchFamily="34" charset="0"/>
                <a:ea typeface="Arial" pitchFamily="34" charset="-122"/>
                <a:cs typeface="Arial" pitchFamily="34" charset="-120"/>
              </a:rPr>
              <a:t>FN</a:t>
            </a:r>
            <a:endParaRPr lang="en-US" sz="2400" dirty="0"/>
          </a:p>
        </p:txBody>
      </p:sp>
      <p:sp>
        <p:nvSpPr>
          <p:cNvPr id="25" name="Text 23"/>
          <p:cNvSpPr/>
          <p:nvPr/>
        </p:nvSpPr>
        <p:spPr>
          <a:xfrm>
            <a:off x="5897880" y="3383280"/>
            <a:ext cx="2423160" cy="228600"/>
          </a:xfrm>
          <a:prstGeom prst="rect">
            <a:avLst/>
          </a:prstGeom>
          <a:noFill/>
          <a:ln/>
        </p:spPr>
        <p:txBody>
          <a:bodyPr wrap="square" lIns="0" tIns="0" rIns="0" bIns="0" rtlCol="0" anchor="t">
            <a:normAutofit/>
          </a:bodyPr>
          <a:lstStyle/>
          <a:p>
            <a:pPr marL="0" indent="0" algn="ctr">
              <a:buNone/>
            </a:pPr>
            <a:r>
              <a:rPr lang="en-US" sz="1200" dirty="0">
                <a:solidFill>
                  <a:srgbClr val="1F2937"/>
                </a:solidFill>
                <a:latin typeface="Arial" pitchFamily="34" charset="0"/>
                <a:ea typeface="Arial" pitchFamily="34" charset="-122"/>
                <a:cs typeface="Arial" pitchFamily="34" charset="-120"/>
              </a:rPr>
              <a:t>lost revenue</a:t>
            </a:r>
            <a:endParaRPr lang="en-US" sz="1200" dirty="0"/>
          </a:p>
        </p:txBody>
      </p:sp>
      <p:sp>
        <p:nvSpPr>
          <p:cNvPr id="26" name="Shape 24"/>
          <p:cNvSpPr/>
          <p:nvPr/>
        </p:nvSpPr>
        <p:spPr>
          <a:xfrm>
            <a:off x="8321040" y="2578608"/>
            <a:ext cx="2423160" cy="1481328"/>
          </a:xfrm>
          <a:prstGeom prst="rect">
            <a:avLst/>
          </a:prstGeom>
          <a:solidFill>
            <a:srgbClr val="DDEBF7"/>
          </a:solidFill>
          <a:ln w="8890">
            <a:solidFill>
              <a:srgbClr val="D9D9D9"/>
            </a:solidFill>
            <a:prstDash val="solid"/>
          </a:ln>
        </p:spPr>
      </p:sp>
      <p:sp>
        <p:nvSpPr>
          <p:cNvPr id="27" name="Text 25"/>
          <p:cNvSpPr/>
          <p:nvPr/>
        </p:nvSpPr>
        <p:spPr>
          <a:xfrm>
            <a:off x="8321040" y="2962656"/>
            <a:ext cx="2423160" cy="320040"/>
          </a:xfrm>
          <a:prstGeom prst="rect">
            <a:avLst/>
          </a:prstGeom>
          <a:noFill/>
          <a:ln/>
        </p:spPr>
        <p:txBody>
          <a:bodyPr wrap="square" lIns="0" tIns="0" rIns="0" bIns="0" rtlCol="0" anchor="t">
            <a:normAutofit fontScale="92500" lnSpcReduction="10000"/>
          </a:bodyPr>
          <a:lstStyle/>
          <a:p>
            <a:pPr marL="0" indent="0" algn="ctr">
              <a:buNone/>
            </a:pPr>
            <a:r>
              <a:rPr lang="en-US" sz="2400" b="1" dirty="0">
                <a:solidFill>
                  <a:srgbClr val="2E75B6"/>
                </a:solidFill>
                <a:latin typeface="Arial" pitchFamily="34" charset="0"/>
                <a:ea typeface="Arial" pitchFamily="34" charset="-122"/>
                <a:cs typeface="Arial" pitchFamily="34" charset="-120"/>
              </a:rPr>
              <a:t>TP</a:t>
            </a:r>
            <a:endParaRPr lang="en-US" sz="2400" dirty="0"/>
          </a:p>
        </p:txBody>
      </p:sp>
      <p:sp>
        <p:nvSpPr>
          <p:cNvPr id="28" name="Text 26"/>
          <p:cNvSpPr/>
          <p:nvPr/>
        </p:nvSpPr>
        <p:spPr>
          <a:xfrm>
            <a:off x="8321040" y="3383280"/>
            <a:ext cx="2423160" cy="228600"/>
          </a:xfrm>
          <a:prstGeom prst="rect">
            <a:avLst/>
          </a:prstGeom>
          <a:noFill/>
          <a:ln/>
        </p:spPr>
        <p:txBody>
          <a:bodyPr wrap="square" lIns="0" tIns="0" rIns="0" bIns="0" rtlCol="0" anchor="t">
            <a:normAutofit/>
          </a:bodyPr>
          <a:lstStyle/>
          <a:p>
            <a:pPr marL="0" indent="0" algn="ctr">
              <a:buNone/>
            </a:pPr>
            <a:r>
              <a:rPr lang="en-US" sz="1200" dirty="0">
                <a:solidFill>
                  <a:srgbClr val="1F2937"/>
                </a:solidFill>
                <a:latin typeface="Arial" pitchFamily="34" charset="0"/>
                <a:ea typeface="Arial" pitchFamily="34" charset="-122"/>
                <a:cs typeface="Arial" pitchFamily="34" charset="-120"/>
              </a:rPr>
              <a:t>successful call</a:t>
            </a:r>
            <a:endParaRPr lang="en-US" sz="1200" dirty="0"/>
          </a:p>
        </p:txBody>
      </p:sp>
      <p:sp>
        <p:nvSpPr>
          <p:cNvPr id="29" name="Text 27"/>
          <p:cNvSpPr/>
          <p:nvPr/>
        </p:nvSpPr>
        <p:spPr>
          <a:xfrm>
            <a:off x="5669280" y="4297680"/>
            <a:ext cx="5577840"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Cost matrix: false negatives lose revenue; false positives waste call cost.</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Dataset &amp; Imbalance Challenge</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2210311791"/>
              </p:ext>
            </p:extLst>
          </p:nvPr>
        </p:nvGraphicFramePr>
        <p:xfrm>
          <a:off x="420624" y="1993392"/>
          <a:ext cx="4937760" cy="2578608"/>
        </p:xfrm>
        <a:graphic>
          <a:graphicData uri="http://schemas.openxmlformats.org/drawingml/2006/table">
            <a:tbl>
              <a:tblPr/>
              <a:tblGrid>
                <a:gridCol w="3154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tblGrid>
              <a:tr h="384048">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Value</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38912">
                <a:tc>
                  <a:txBody>
                    <a:bodyPr/>
                    <a:lstStyle/>
                    <a:p>
                      <a:pPr marL="0" indent="0" algn="l">
                        <a:buNone/>
                      </a:pPr>
                      <a:r>
                        <a:rPr lang="en-US" sz="1100" dirty="0">
                          <a:solidFill>
                            <a:srgbClr val="1F2937"/>
                          </a:solidFill>
                          <a:latin typeface="Arial" pitchFamily="34" charset="0"/>
                          <a:ea typeface="Arial" pitchFamily="34" charset="-122"/>
                          <a:cs typeface="Arial" pitchFamily="34" charset="-120"/>
                        </a:rPr>
                        <a:t>Observations</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1F2937"/>
                          </a:solidFill>
                          <a:latin typeface="Consolas" pitchFamily="34" charset="0"/>
                          <a:ea typeface="Consolas" pitchFamily="34" charset="-122"/>
                          <a:cs typeface="Consolas" pitchFamily="34" charset="-120"/>
                        </a:rPr>
                        <a:t>41,188</a:t>
                      </a:r>
                      <a:endParaRPr lang="en-US" sz="1100" dirty="0">
                        <a:latin typeface="Consolas" charset="0"/>
                        <a:ea typeface="Consolas" charset="0"/>
                        <a:cs typeface="Consolas"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l">
                        <a:buNone/>
                      </a:pPr>
                      <a:r>
                        <a:rPr lang="en-US" sz="1100" dirty="0">
                          <a:solidFill>
                            <a:srgbClr val="1F2937"/>
                          </a:solidFill>
                          <a:latin typeface="Arial" pitchFamily="34" charset="0"/>
                          <a:ea typeface="Arial" pitchFamily="34" charset="-122"/>
                          <a:cs typeface="Arial" pitchFamily="34" charset="-120"/>
                        </a:rPr>
                        <a:t>Predictors after preprocessing</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1F2937"/>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lgn="l">
                        <a:buNone/>
                      </a:pPr>
                      <a:r>
                        <a:rPr lang="en-US" sz="1100" dirty="0">
                          <a:solidFill>
                            <a:srgbClr val="1F2937"/>
                          </a:solidFill>
                          <a:latin typeface="Arial" pitchFamily="34" charset="0"/>
                          <a:ea typeface="Arial" pitchFamily="34" charset="-122"/>
                          <a:cs typeface="Arial" pitchFamily="34" charset="-120"/>
                        </a:rPr>
                        <a:t>Positive class: subscribed</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1F2937"/>
                          </a:solidFill>
                          <a:latin typeface="Consolas" pitchFamily="34" charset="0"/>
                          <a:ea typeface="Consolas" pitchFamily="34" charset="-122"/>
                          <a:cs typeface="Consolas" pitchFamily="34" charset="-120"/>
                        </a:rPr>
                        <a:t>4,640</a:t>
                      </a:r>
                      <a:endParaRPr lang="en-US" sz="1100" dirty="0">
                        <a:latin typeface="Consolas" charset="0"/>
                        <a:ea typeface="Consolas" charset="0"/>
                        <a:cs typeface="Consolas"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lgn="l">
                        <a:buNone/>
                      </a:pPr>
                      <a:r>
                        <a:rPr lang="en-US" sz="1100" b="1" dirty="0">
                          <a:solidFill>
                            <a:srgbClr val="1F2937"/>
                          </a:solidFill>
                          <a:latin typeface="Arial" pitchFamily="34" charset="0"/>
                          <a:ea typeface="Arial" pitchFamily="34" charset="-122"/>
                          <a:cs typeface="Arial" pitchFamily="34" charset="-120"/>
                        </a:rPr>
                        <a:t>Positive rate</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rgbClr val="ED7D31"/>
                          </a:solidFill>
                          <a:latin typeface="Consolas" pitchFamily="34" charset="0"/>
                          <a:ea typeface="Consolas" pitchFamily="34" charset="-122"/>
                          <a:cs typeface="Consolas" pitchFamily="34" charset="-120"/>
                        </a:rPr>
                        <a:t>11.27%</a:t>
                      </a:r>
                      <a:endParaRPr lang="en-US" sz="1200" dirty="0">
                        <a:latin typeface="Consolas" charset="0"/>
                        <a:ea typeface="Consolas" charset="0"/>
                        <a:cs typeface="Consolas"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lgn="l">
                        <a:buNone/>
                      </a:pPr>
                      <a:r>
                        <a:rPr lang="en-US" sz="1100" dirty="0">
                          <a:solidFill>
                            <a:srgbClr val="1F2937"/>
                          </a:solidFill>
                          <a:latin typeface="Arial" pitchFamily="34" charset="0"/>
                          <a:ea typeface="Arial" pitchFamily="34" charset="-122"/>
                          <a:cs typeface="Arial" pitchFamily="34" charset="-120"/>
                        </a:rPr>
                        <a:t>Raw NA count</a:t>
                      </a:r>
                      <a:endParaRPr lang="en-US" sz="1100" dirty="0">
                        <a:latin typeface="Arial" charset="0"/>
                        <a:ea typeface="Arial" charset="0"/>
                        <a:cs typeface="Arial"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1F2937"/>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36576" marR="36576" marT="36576" marB="36576">
                    <a:lnL w="6985" cap="flat" cmpd="sng" algn="ctr">
                      <a:solidFill>
                        <a:srgbClr val="D9D9D9"/>
                      </a:solidFill>
                      <a:prstDash val="solid"/>
                      <a:round/>
                      <a:headEnd type="none" w="med" len="med"/>
                      <a:tailEnd type="none" w="med" len="med"/>
                    </a:lnL>
                    <a:lnR w="6985" cap="flat" cmpd="sng" algn="ctr">
                      <a:solidFill>
                        <a:srgbClr val="D9D9D9"/>
                      </a:solidFill>
                      <a:prstDash val="solid"/>
                      <a:round/>
                      <a:headEnd type="none" w="med" len="med"/>
                      <a:tailEnd type="none" w="med" len="med"/>
                    </a:lnR>
                    <a:lnT w="6985" cap="flat" cmpd="sng" algn="ctr">
                      <a:solidFill>
                        <a:srgbClr val="D9D9D9"/>
                      </a:solidFill>
                      <a:prstDash val="solid"/>
                      <a:round/>
                      <a:headEnd type="none" w="med" len="med"/>
                      <a:tailEnd type="none" w="med" len="med"/>
                    </a:lnT>
                    <a:lnB w="698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385440" y="4911322"/>
            <a:ext cx="4937760"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Table 1. Dataset summary after preprocessing.</a:t>
            </a:r>
            <a:endParaRPr lang="en-US" sz="920" dirty="0"/>
          </a:p>
        </p:txBody>
      </p:sp>
      <p:sp>
        <p:nvSpPr>
          <p:cNvPr id="6" name="Text 3"/>
          <p:cNvSpPr/>
          <p:nvPr/>
        </p:nvSpPr>
        <p:spPr>
          <a:xfrm>
            <a:off x="5961490" y="1593640"/>
            <a:ext cx="1920240" cy="201168"/>
          </a:xfrm>
          <a:prstGeom prst="rect">
            <a:avLst/>
          </a:prstGeom>
          <a:noFill/>
          <a:ln/>
        </p:spPr>
        <p:txBody>
          <a:bodyPr wrap="square" lIns="0" tIns="0" rIns="0" bIns="0" rtlCol="0" anchor="t">
            <a:normAutofit/>
          </a:bodyPr>
          <a:lstStyle/>
          <a:p>
            <a:pPr marL="0" indent="0" algn="l">
              <a:buNone/>
            </a:pPr>
            <a:r>
              <a:rPr lang="en-US" sz="1200" b="1" dirty="0">
                <a:solidFill>
                  <a:srgbClr val="ED7D31"/>
                </a:solidFill>
                <a:latin typeface="Arial" pitchFamily="34" charset="0"/>
                <a:ea typeface="Arial" pitchFamily="34" charset="-122"/>
                <a:cs typeface="Arial" pitchFamily="34" charset="-120"/>
              </a:rPr>
              <a:t>Subscribed</a:t>
            </a:r>
            <a:endParaRPr lang="en-US" sz="1200" dirty="0"/>
          </a:p>
        </p:txBody>
      </p:sp>
      <p:sp>
        <p:nvSpPr>
          <p:cNvPr id="7" name="Text 4"/>
          <p:cNvSpPr/>
          <p:nvPr/>
        </p:nvSpPr>
        <p:spPr>
          <a:xfrm>
            <a:off x="9912295" y="1585689"/>
            <a:ext cx="2011680" cy="201168"/>
          </a:xfrm>
          <a:prstGeom prst="rect">
            <a:avLst/>
          </a:prstGeom>
          <a:noFill/>
          <a:ln/>
        </p:spPr>
        <p:txBody>
          <a:bodyPr wrap="square" lIns="0" tIns="0" rIns="0" bIns="0" rtlCol="0" anchor="t">
            <a:normAutofit/>
          </a:bodyPr>
          <a:lstStyle/>
          <a:p>
            <a:pPr marL="0" indent="0" algn="l">
              <a:buNone/>
            </a:pPr>
            <a:r>
              <a:rPr lang="en-US" sz="1200" b="1" dirty="0">
                <a:solidFill>
                  <a:srgbClr val="7F7F7F"/>
                </a:solidFill>
                <a:latin typeface="Arial" pitchFamily="34" charset="0"/>
                <a:ea typeface="Arial" pitchFamily="34" charset="-122"/>
                <a:cs typeface="Arial" pitchFamily="34" charset="-120"/>
              </a:rPr>
              <a:t>Not subscribed</a:t>
            </a:r>
            <a:endParaRPr lang="en-US" sz="1200" dirty="0"/>
          </a:p>
        </p:txBody>
      </p:sp>
      <p:sp>
        <p:nvSpPr>
          <p:cNvPr id="8" name="Shape 5"/>
          <p:cNvSpPr/>
          <p:nvPr/>
        </p:nvSpPr>
        <p:spPr>
          <a:xfrm>
            <a:off x="6056906" y="1888236"/>
            <a:ext cx="603504" cy="512064"/>
          </a:xfrm>
          <a:prstGeom prst="rect">
            <a:avLst/>
          </a:prstGeom>
          <a:solidFill>
            <a:srgbClr val="ED7D31"/>
          </a:solidFill>
          <a:ln w="12700">
            <a:solidFill>
              <a:srgbClr val="ED7D31"/>
            </a:solidFill>
            <a:prstDash val="solid"/>
          </a:ln>
        </p:spPr>
      </p:sp>
      <p:sp>
        <p:nvSpPr>
          <p:cNvPr id="9" name="Shape 6"/>
          <p:cNvSpPr/>
          <p:nvPr/>
        </p:nvSpPr>
        <p:spPr>
          <a:xfrm>
            <a:off x="6660410" y="1880285"/>
            <a:ext cx="4754880" cy="512064"/>
          </a:xfrm>
          <a:prstGeom prst="rect">
            <a:avLst/>
          </a:prstGeom>
          <a:solidFill>
            <a:srgbClr val="F2F2F2"/>
          </a:solidFill>
          <a:ln w="12700">
            <a:solidFill>
              <a:srgbClr val="D9D9D9"/>
            </a:solidFill>
            <a:prstDash val="solid"/>
          </a:ln>
        </p:spPr>
      </p:sp>
      <p:sp>
        <p:nvSpPr>
          <p:cNvPr id="10" name="Text 7"/>
          <p:cNvSpPr/>
          <p:nvPr/>
        </p:nvSpPr>
        <p:spPr>
          <a:xfrm>
            <a:off x="6056906" y="2500884"/>
            <a:ext cx="1554480" cy="292608"/>
          </a:xfrm>
          <a:prstGeom prst="rect">
            <a:avLst/>
          </a:prstGeom>
          <a:noFill/>
          <a:ln/>
        </p:spPr>
        <p:txBody>
          <a:bodyPr wrap="square" lIns="0" tIns="0" rIns="0" bIns="0" rtlCol="0" anchor="t">
            <a:normAutofit fontScale="92500" lnSpcReduction="20000"/>
          </a:bodyPr>
          <a:lstStyle/>
          <a:p>
            <a:pPr marL="0" indent="0" algn="l">
              <a:buNone/>
            </a:pPr>
            <a:r>
              <a:rPr lang="en-US" sz="2400" b="1" dirty="0">
                <a:solidFill>
                  <a:srgbClr val="ED7D31"/>
                </a:solidFill>
                <a:latin typeface="Arial" pitchFamily="34" charset="0"/>
                <a:ea typeface="Arial" pitchFamily="34" charset="-122"/>
                <a:cs typeface="Arial" pitchFamily="34" charset="-120"/>
              </a:rPr>
              <a:t>11.27%</a:t>
            </a:r>
            <a:endParaRPr lang="en-US" sz="2400" dirty="0"/>
          </a:p>
        </p:txBody>
      </p:sp>
      <p:sp>
        <p:nvSpPr>
          <p:cNvPr id="11" name="Text 8"/>
          <p:cNvSpPr/>
          <p:nvPr/>
        </p:nvSpPr>
        <p:spPr>
          <a:xfrm>
            <a:off x="9440186" y="2500884"/>
            <a:ext cx="1554480" cy="292608"/>
          </a:xfrm>
          <a:prstGeom prst="rect">
            <a:avLst/>
          </a:prstGeom>
          <a:noFill/>
          <a:ln/>
        </p:spPr>
        <p:txBody>
          <a:bodyPr wrap="square" lIns="0" tIns="0" rIns="0" bIns="0" rtlCol="0" anchor="t">
            <a:normAutofit fontScale="92500" lnSpcReduction="20000"/>
          </a:bodyPr>
          <a:lstStyle/>
          <a:p>
            <a:pPr marL="0" indent="0" algn="r">
              <a:buNone/>
            </a:pPr>
            <a:r>
              <a:rPr lang="en-US" sz="2400" b="1" dirty="0">
                <a:solidFill>
                  <a:srgbClr val="7F7F7F"/>
                </a:solidFill>
                <a:latin typeface="Arial" pitchFamily="34" charset="0"/>
                <a:ea typeface="Arial" pitchFamily="34" charset="-122"/>
                <a:cs typeface="Arial" pitchFamily="34" charset="-120"/>
              </a:rPr>
              <a:t>88.73%</a:t>
            </a:r>
            <a:endParaRPr lang="en-US" sz="2400" dirty="0"/>
          </a:p>
        </p:txBody>
      </p:sp>
      <p:sp>
        <p:nvSpPr>
          <p:cNvPr id="12" name="Shape 9"/>
          <p:cNvSpPr/>
          <p:nvPr/>
        </p:nvSpPr>
        <p:spPr>
          <a:xfrm>
            <a:off x="5671268" y="3607309"/>
            <a:ext cx="5939624" cy="987552"/>
          </a:xfrm>
          <a:prstGeom prst="roundRect">
            <a:avLst>
              <a:gd name="adj" fmla="val 7407"/>
            </a:avLst>
          </a:prstGeom>
          <a:solidFill>
            <a:srgbClr val="FFF2CC"/>
          </a:solidFill>
          <a:ln w="10160">
            <a:solidFill>
              <a:srgbClr val="ED7D31"/>
            </a:solidFill>
            <a:prstDash val="solid"/>
          </a:ln>
        </p:spPr>
      </p:sp>
      <p:sp>
        <p:nvSpPr>
          <p:cNvPr id="13" name="Text 10"/>
          <p:cNvSpPr/>
          <p:nvPr/>
        </p:nvSpPr>
        <p:spPr>
          <a:xfrm>
            <a:off x="5774635" y="3701332"/>
            <a:ext cx="5576647" cy="804672"/>
          </a:xfrm>
          <a:prstGeom prst="rect">
            <a:avLst/>
          </a:prstGeom>
          <a:noFill/>
          <a:ln/>
        </p:spPr>
        <p:txBody>
          <a:bodyPr wrap="square" lIns="0" tIns="0" rIns="0" bIns="0" rtlCol="0" anchor="ctr">
            <a:noAutofit/>
          </a:bodyPr>
          <a:lstStyle/>
          <a:p>
            <a:pPr marL="0" indent="0" algn="ctr">
              <a:buNone/>
            </a:pPr>
            <a:r>
              <a:rPr lang="en-US" sz="2000" b="1" dirty="0">
                <a:solidFill>
                  <a:srgbClr val="ED7D31"/>
                </a:solidFill>
                <a:latin typeface="Arial" pitchFamily="34" charset="0"/>
                <a:ea typeface="Arial" pitchFamily="34" charset="-122"/>
                <a:cs typeface="Arial" pitchFamily="34" charset="-120"/>
              </a:rPr>
              <a:t>All-No classifier: 88.73% accuracy, zero recall.</a:t>
            </a:r>
            <a:endParaRPr lang="en-US" sz="2000" dirty="0"/>
          </a:p>
          <a:p>
            <a:pPr marL="0" indent="0" algn="ctr">
              <a:buNone/>
            </a:pPr>
            <a:r>
              <a:rPr lang="en-US" sz="2000" b="1" dirty="0">
                <a:solidFill>
                  <a:srgbClr val="ED7D31"/>
                </a:solidFill>
                <a:latin typeface="Arial" pitchFamily="34" charset="0"/>
                <a:ea typeface="Arial" pitchFamily="34" charset="-122"/>
                <a:cs typeface="Arial" pitchFamily="34" charset="-120"/>
              </a:rPr>
              <a:t>Accuracy is misleading.</a:t>
            </a:r>
            <a:endParaRPr lang="en-US" sz="2000" dirty="0"/>
          </a:p>
        </p:txBody>
      </p:sp>
      <p:sp>
        <p:nvSpPr>
          <p:cNvPr id="14" name="Shape 11"/>
          <p:cNvSpPr/>
          <p:nvPr/>
        </p:nvSpPr>
        <p:spPr>
          <a:xfrm>
            <a:off x="6135624" y="5376672"/>
            <a:ext cx="64008" cy="64008"/>
          </a:xfrm>
          <a:prstGeom prst="ellipse">
            <a:avLst/>
          </a:prstGeom>
          <a:solidFill>
            <a:srgbClr val="ED7D31"/>
          </a:solidFill>
          <a:ln w="12700">
            <a:solidFill>
              <a:srgbClr val="ED7D31">
                <a:alpha val="0"/>
              </a:srgbClr>
            </a:solidFill>
            <a:prstDash val="solid"/>
          </a:ln>
        </p:spPr>
      </p:sp>
      <p:sp>
        <p:nvSpPr>
          <p:cNvPr id="15" name="Text 12"/>
          <p:cNvSpPr/>
          <p:nvPr/>
        </p:nvSpPr>
        <p:spPr>
          <a:xfrm>
            <a:off x="6466597" y="5328567"/>
            <a:ext cx="5065776" cy="219456"/>
          </a:xfrm>
          <a:prstGeom prst="rect">
            <a:avLst/>
          </a:prstGeom>
          <a:noFill/>
          <a:ln/>
        </p:spPr>
        <p:txBody>
          <a:bodyPr wrap="square" lIns="0" tIns="0" rIns="0" bIns="0" rtlCol="0" anchor="t">
            <a:normAutofit/>
          </a:bodyPr>
          <a:lstStyle/>
          <a:p>
            <a:pPr marL="0" indent="0" algn="l">
              <a:buNone/>
            </a:pPr>
            <a:r>
              <a:rPr lang="en-US" sz="1420" dirty="0">
                <a:solidFill>
                  <a:srgbClr val="1F2937"/>
                </a:solidFill>
                <a:latin typeface="Arial" pitchFamily="34" charset="0"/>
                <a:ea typeface="Arial" pitchFamily="34" charset="-122"/>
                <a:cs typeface="Arial" pitchFamily="34" charset="-120"/>
              </a:rPr>
              <a:t>Positive class is rare but business-critical</a:t>
            </a:r>
            <a:endParaRPr lang="en-US" sz="1420" dirty="0"/>
          </a:p>
        </p:txBody>
      </p:sp>
      <p:sp>
        <p:nvSpPr>
          <p:cNvPr id="16" name="Shape 13"/>
          <p:cNvSpPr/>
          <p:nvPr/>
        </p:nvSpPr>
        <p:spPr>
          <a:xfrm>
            <a:off x="6135624" y="5724144"/>
            <a:ext cx="64008" cy="64008"/>
          </a:xfrm>
          <a:prstGeom prst="ellipse">
            <a:avLst/>
          </a:prstGeom>
          <a:solidFill>
            <a:srgbClr val="ED7D31"/>
          </a:solidFill>
          <a:ln w="12700">
            <a:solidFill>
              <a:srgbClr val="ED7D31">
                <a:alpha val="0"/>
              </a:srgbClr>
            </a:solidFill>
            <a:prstDash val="solid"/>
          </a:ln>
        </p:spPr>
      </p:sp>
      <p:sp>
        <p:nvSpPr>
          <p:cNvPr id="17" name="Text 14"/>
          <p:cNvSpPr/>
          <p:nvPr/>
        </p:nvSpPr>
        <p:spPr>
          <a:xfrm>
            <a:off x="6466597" y="5666497"/>
            <a:ext cx="5065776" cy="219456"/>
          </a:xfrm>
          <a:prstGeom prst="rect">
            <a:avLst/>
          </a:prstGeom>
          <a:noFill/>
          <a:ln/>
        </p:spPr>
        <p:txBody>
          <a:bodyPr wrap="square" lIns="0" tIns="0" rIns="0" bIns="0" rtlCol="0" anchor="t">
            <a:normAutofit/>
          </a:bodyPr>
          <a:lstStyle/>
          <a:p>
            <a:pPr marL="0" indent="0" algn="l">
              <a:buNone/>
            </a:pPr>
            <a:r>
              <a:rPr lang="en-US" sz="1420" dirty="0">
                <a:solidFill>
                  <a:srgbClr val="1F2937"/>
                </a:solidFill>
                <a:latin typeface="Arial" pitchFamily="34" charset="0"/>
                <a:ea typeface="Arial" pitchFamily="34" charset="-122"/>
                <a:cs typeface="Arial" pitchFamily="34" charset="-120"/>
              </a:rPr>
              <a:t>Use PR-AUC, F1, recall, precision</a:t>
            </a:r>
            <a:endParaRPr lang="en-US" sz="1420" dirty="0"/>
          </a:p>
        </p:txBody>
      </p:sp>
      <p:sp>
        <p:nvSpPr>
          <p:cNvPr id="18" name="Shape 15"/>
          <p:cNvSpPr/>
          <p:nvPr/>
        </p:nvSpPr>
        <p:spPr>
          <a:xfrm>
            <a:off x="6135624" y="6071616"/>
            <a:ext cx="64008" cy="64008"/>
          </a:xfrm>
          <a:prstGeom prst="ellipse">
            <a:avLst/>
          </a:prstGeom>
          <a:solidFill>
            <a:srgbClr val="ED7D31"/>
          </a:solidFill>
          <a:ln w="12700">
            <a:solidFill>
              <a:srgbClr val="ED7D31">
                <a:alpha val="0"/>
              </a:srgbClr>
            </a:solidFill>
            <a:prstDash val="solid"/>
          </a:ln>
        </p:spPr>
      </p:sp>
      <p:sp>
        <p:nvSpPr>
          <p:cNvPr id="19" name="Text 16"/>
          <p:cNvSpPr/>
          <p:nvPr/>
        </p:nvSpPr>
        <p:spPr>
          <a:xfrm>
            <a:off x="6431810" y="6025896"/>
            <a:ext cx="5065776" cy="219456"/>
          </a:xfrm>
          <a:prstGeom prst="rect">
            <a:avLst/>
          </a:prstGeom>
          <a:noFill/>
          <a:ln/>
        </p:spPr>
        <p:txBody>
          <a:bodyPr wrap="square" lIns="0" tIns="0" rIns="0" bIns="0" rtlCol="0" anchor="t">
            <a:normAutofit/>
          </a:bodyPr>
          <a:lstStyle/>
          <a:p>
            <a:pPr marL="0" indent="0" algn="l">
              <a:buNone/>
            </a:pPr>
            <a:r>
              <a:rPr lang="en-US" sz="1420" dirty="0">
                <a:solidFill>
                  <a:srgbClr val="1F2937"/>
                </a:solidFill>
                <a:latin typeface="Arial" pitchFamily="34" charset="0"/>
                <a:ea typeface="Arial" pitchFamily="34" charset="-122"/>
                <a:cs typeface="Arial" pitchFamily="34" charset="-120"/>
              </a:rPr>
              <a:t>Imbalance drives every modeling choice</a:t>
            </a:r>
            <a:endParaRPr lang="en-US" sz="14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Three Preprocessing Decisions</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sp>
      <p:sp>
        <p:nvSpPr>
          <p:cNvPr id="4" name="Text 2"/>
          <p:cNvSpPr/>
          <p:nvPr/>
        </p:nvSpPr>
        <p:spPr>
          <a:xfrm>
            <a:off x="731520" y="1133856"/>
            <a:ext cx="594360" cy="411480"/>
          </a:xfrm>
          <a:prstGeom prst="rect">
            <a:avLst/>
          </a:prstGeom>
          <a:noFill/>
          <a:ln/>
        </p:spPr>
        <p:txBody>
          <a:bodyPr wrap="square" lIns="0" tIns="0" rIns="0" bIns="0" rtlCol="0" anchor="t">
            <a:normAutofit/>
          </a:bodyPr>
          <a:lstStyle/>
          <a:p>
            <a:pPr marL="0" indent="0" algn="l">
              <a:buNone/>
            </a:pPr>
            <a:r>
              <a:rPr lang="en-US" sz="2600" b="1" dirty="0">
                <a:solidFill>
                  <a:srgbClr val="ED7D31"/>
                </a:solidFill>
                <a:latin typeface="Arial" pitchFamily="34" charset="0"/>
                <a:ea typeface="Arial" pitchFamily="34" charset="-122"/>
                <a:cs typeface="Arial" pitchFamily="34" charset="-120"/>
              </a:rPr>
              <a:t>01</a:t>
            </a:r>
            <a:endParaRPr lang="en-US" sz="2600" dirty="0"/>
          </a:p>
        </p:txBody>
      </p:sp>
      <p:sp>
        <p:nvSpPr>
          <p:cNvPr id="5" name="Shape 3"/>
          <p:cNvSpPr/>
          <p:nvPr/>
        </p:nvSpPr>
        <p:spPr>
          <a:xfrm>
            <a:off x="731520" y="1691640"/>
            <a:ext cx="2651760" cy="0"/>
          </a:xfrm>
          <a:prstGeom prst="line">
            <a:avLst/>
          </a:prstGeom>
          <a:noFill/>
          <a:ln w="12700">
            <a:solidFill>
              <a:srgbClr val="D9D9D9"/>
            </a:solidFill>
            <a:prstDash val="solid"/>
          </a:ln>
        </p:spPr>
      </p:sp>
      <p:sp>
        <p:nvSpPr>
          <p:cNvPr id="6" name="Text 4"/>
          <p:cNvSpPr/>
          <p:nvPr/>
        </p:nvSpPr>
        <p:spPr>
          <a:xfrm>
            <a:off x="731520" y="1920240"/>
            <a:ext cx="2743200" cy="274320"/>
          </a:xfrm>
          <a:prstGeom prst="rect">
            <a:avLst/>
          </a:prstGeom>
          <a:noFill/>
          <a:ln/>
        </p:spPr>
        <p:txBody>
          <a:bodyPr wrap="square" lIns="0" tIns="0" rIns="0" bIns="0" rtlCol="0" anchor="t">
            <a:normAutofit lnSpcReduction="10000"/>
          </a:bodyPr>
          <a:lstStyle/>
          <a:p>
            <a:pPr marL="0" indent="0" algn="l">
              <a:buNone/>
            </a:pPr>
            <a:r>
              <a:rPr lang="en-US" sz="1900" b="1" dirty="0">
                <a:solidFill>
                  <a:srgbClr val="1F4E79"/>
                </a:solidFill>
                <a:latin typeface="Arial" pitchFamily="34" charset="0"/>
                <a:ea typeface="Arial" pitchFamily="34" charset="-122"/>
                <a:cs typeface="Arial" pitchFamily="34" charset="-120"/>
              </a:rPr>
              <a:t>Drop duration</a:t>
            </a:r>
            <a:endParaRPr lang="en-US" sz="1900" dirty="0"/>
          </a:p>
        </p:txBody>
      </p:sp>
      <p:sp>
        <p:nvSpPr>
          <p:cNvPr id="7" name="Text 5"/>
          <p:cNvSpPr/>
          <p:nvPr/>
        </p:nvSpPr>
        <p:spPr>
          <a:xfrm>
            <a:off x="731520" y="2514600"/>
            <a:ext cx="2788920" cy="658368"/>
          </a:xfrm>
          <a:prstGeom prst="rect">
            <a:avLst/>
          </a:prstGeom>
          <a:noFill/>
          <a:ln/>
        </p:spPr>
        <p:txBody>
          <a:bodyPr wrap="square" lIns="0" tIns="0" rIns="0" bIns="0" rtlCol="0" anchor="ctr">
            <a:normAutofit/>
          </a:bodyPr>
          <a:lstStyle/>
          <a:p>
            <a:pPr marL="0" indent="0" algn="l">
              <a:buNone/>
            </a:pPr>
            <a:r>
              <a:rPr lang="en-US" sz="1500" dirty="0">
                <a:solidFill>
                  <a:srgbClr val="1F2937"/>
                </a:solidFill>
                <a:latin typeface="Arial" pitchFamily="34" charset="0"/>
                <a:ea typeface="Arial" pitchFamily="34" charset="-122"/>
                <a:cs typeface="Arial" pitchFamily="34" charset="-120"/>
              </a:rPr>
              <a:t>Recorded after the call</a:t>
            </a:r>
            <a:endParaRPr lang="en-US" sz="1500" dirty="0"/>
          </a:p>
          <a:p>
            <a:pPr marL="0" indent="0" algn="l">
              <a:buNone/>
            </a:pPr>
            <a:r>
              <a:rPr lang="en-US" sz="1500" dirty="0">
                <a:solidFill>
                  <a:srgbClr val="1F2937"/>
                </a:solidFill>
                <a:latin typeface="Arial" pitchFamily="34" charset="0"/>
                <a:ea typeface="Arial" pitchFamily="34" charset="-122"/>
                <a:cs typeface="Arial" pitchFamily="34" charset="-120"/>
              </a:rPr>
              <a:t>post-contact leakage</a:t>
            </a:r>
            <a:endParaRPr lang="en-US" sz="1500" dirty="0"/>
          </a:p>
        </p:txBody>
      </p:sp>
      <p:sp>
        <p:nvSpPr>
          <p:cNvPr id="8" name="Text 6"/>
          <p:cNvSpPr/>
          <p:nvPr/>
        </p:nvSpPr>
        <p:spPr>
          <a:xfrm>
            <a:off x="731520" y="3456432"/>
            <a:ext cx="2788920" cy="310896"/>
          </a:xfrm>
          <a:prstGeom prst="rect">
            <a:avLst/>
          </a:prstGeom>
          <a:noFill/>
          <a:ln/>
        </p:spPr>
        <p:txBody>
          <a:bodyPr wrap="square" lIns="0" tIns="0" rIns="0" bIns="0" rtlCol="0" anchor="t">
            <a:normAutofit/>
          </a:bodyPr>
          <a:lstStyle/>
          <a:p>
            <a:pPr marL="0" indent="0" algn="l">
              <a:buNone/>
            </a:pPr>
            <a:r>
              <a:rPr lang="en-US" sz="1350" b="1" dirty="0">
                <a:solidFill>
                  <a:srgbClr val="2E75B6"/>
                </a:solidFill>
                <a:latin typeface="Arial" pitchFamily="34" charset="0"/>
                <a:ea typeface="Arial" pitchFamily="34" charset="-122"/>
                <a:cs typeface="Arial" pitchFamily="34" charset="-120"/>
              </a:rPr>
              <a:t>Removed before modeling</a:t>
            </a:r>
            <a:endParaRPr lang="en-US" sz="1350" dirty="0"/>
          </a:p>
        </p:txBody>
      </p:sp>
      <p:sp>
        <p:nvSpPr>
          <p:cNvPr id="9" name="Text 7"/>
          <p:cNvSpPr/>
          <p:nvPr/>
        </p:nvSpPr>
        <p:spPr>
          <a:xfrm>
            <a:off x="4251960" y="1133856"/>
            <a:ext cx="594360" cy="411480"/>
          </a:xfrm>
          <a:prstGeom prst="rect">
            <a:avLst/>
          </a:prstGeom>
          <a:noFill/>
          <a:ln/>
        </p:spPr>
        <p:txBody>
          <a:bodyPr wrap="square" lIns="0" tIns="0" rIns="0" bIns="0" rtlCol="0" anchor="t">
            <a:normAutofit/>
          </a:bodyPr>
          <a:lstStyle/>
          <a:p>
            <a:pPr marL="0" indent="0" algn="l">
              <a:buNone/>
            </a:pPr>
            <a:r>
              <a:rPr lang="en-US" sz="2600" b="1" dirty="0">
                <a:solidFill>
                  <a:srgbClr val="ED7D31"/>
                </a:solidFill>
                <a:latin typeface="Arial" pitchFamily="34" charset="0"/>
                <a:ea typeface="Arial" pitchFamily="34" charset="-122"/>
                <a:cs typeface="Arial" pitchFamily="34" charset="-120"/>
              </a:rPr>
              <a:t>02</a:t>
            </a:r>
            <a:endParaRPr lang="en-US" sz="2600" dirty="0"/>
          </a:p>
        </p:txBody>
      </p:sp>
      <p:sp>
        <p:nvSpPr>
          <p:cNvPr id="10" name="Shape 8"/>
          <p:cNvSpPr/>
          <p:nvPr/>
        </p:nvSpPr>
        <p:spPr>
          <a:xfrm>
            <a:off x="4251960" y="1691640"/>
            <a:ext cx="2651760" cy="0"/>
          </a:xfrm>
          <a:prstGeom prst="line">
            <a:avLst/>
          </a:prstGeom>
          <a:noFill/>
          <a:ln w="12700">
            <a:solidFill>
              <a:srgbClr val="D9D9D9"/>
            </a:solidFill>
            <a:prstDash val="solid"/>
          </a:ln>
        </p:spPr>
      </p:sp>
      <p:sp>
        <p:nvSpPr>
          <p:cNvPr id="11" name="Text 9"/>
          <p:cNvSpPr/>
          <p:nvPr/>
        </p:nvSpPr>
        <p:spPr>
          <a:xfrm>
            <a:off x="4251960" y="1920240"/>
            <a:ext cx="2743200" cy="274320"/>
          </a:xfrm>
          <a:prstGeom prst="rect">
            <a:avLst/>
          </a:prstGeom>
          <a:noFill/>
          <a:ln/>
        </p:spPr>
        <p:txBody>
          <a:bodyPr wrap="square" lIns="0" tIns="0" rIns="0" bIns="0" rtlCol="0" anchor="t">
            <a:normAutofit lnSpcReduction="10000"/>
          </a:bodyPr>
          <a:lstStyle/>
          <a:p>
            <a:pPr marL="0" indent="0" algn="l">
              <a:buNone/>
            </a:pPr>
            <a:r>
              <a:rPr lang="en-US" sz="1900" b="1" dirty="0">
                <a:solidFill>
                  <a:srgbClr val="1F4E79"/>
                </a:solidFill>
                <a:latin typeface="Arial" pitchFamily="34" charset="0"/>
                <a:ea typeface="Arial" pitchFamily="34" charset="-122"/>
                <a:cs typeface="Arial" pitchFamily="34" charset="-120"/>
              </a:rPr>
              <a:t>Split pdays</a:t>
            </a:r>
            <a:endParaRPr lang="en-US" sz="1900" dirty="0"/>
          </a:p>
        </p:txBody>
      </p:sp>
      <p:sp>
        <p:nvSpPr>
          <p:cNvPr id="12" name="Text 10"/>
          <p:cNvSpPr/>
          <p:nvPr/>
        </p:nvSpPr>
        <p:spPr>
          <a:xfrm>
            <a:off x="4251960" y="2514600"/>
            <a:ext cx="2788920" cy="658368"/>
          </a:xfrm>
          <a:prstGeom prst="rect">
            <a:avLst/>
          </a:prstGeom>
          <a:noFill/>
          <a:ln/>
        </p:spPr>
        <p:txBody>
          <a:bodyPr wrap="square" lIns="0" tIns="0" rIns="0" bIns="0" rtlCol="0" anchor="ctr">
            <a:normAutofit/>
          </a:bodyPr>
          <a:lstStyle/>
          <a:p>
            <a:pPr marL="0" indent="0" algn="l">
              <a:buNone/>
            </a:pPr>
            <a:r>
              <a:rPr lang="en-US" sz="1500" dirty="0">
                <a:solidFill>
                  <a:srgbClr val="1F2937"/>
                </a:solidFill>
                <a:latin typeface="Arial" pitchFamily="34" charset="0"/>
                <a:ea typeface="Arial" pitchFamily="34" charset="-122"/>
                <a:cs typeface="Arial" pitchFamily="34" charset="-120"/>
              </a:rPr>
              <a:t>999 is a sentinel,</a:t>
            </a:r>
            <a:endParaRPr lang="en-US" sz="1500" dirty="0"/>
          </a:p>
          <a:p>
            <a:pPr marL="0" indent="0" algn="l">
              <a:buNone/>
            </a:pPr>
            <a:r>
              <a:rPr lang="en-US" sz="1500" dirty="0">
                <a:solidFill>
                  <a:srgbClr val="1F2937"/>
                </a:solidFill>
                <a:latin typeface="Arial" pitchFamily="34" charset="0"/>
                <a:ea typeface="Arial" pitchFamily="34" charset="-122"/>
                <a:cs typeface="Arial" pitchFamily="34" charset="-120"/>
              </a:rPr>
              <a:t>not a day count</a:t>
            </a:r>
            <a:endParaRPr lang="en-US" sz="1500" dirty="0"/>
          </a:p>
        </p:txBody>
      </p:sp>
      <p:sp>
        <p:nvSpPr>
          <p:cNvPr id="13" name="Text 11"/>
          <p:cNvSpPr/>
          <p:nvPr/>
        </p:nvSpPr>
        <p:spPr>
          <a:xfrm>
            <a:off x="4251960" y="3456432"/>
            <a:ext cx="2788920" cy="310896"/>
          </a:xfrm>
          <a:prstGeom prst="rect">
            <a:avLst/>
          </a:prstGeom>
          <a:noFill/>
          <a:ln/>
        </p:spPr>
        <p:txBody>
          <a:bodyPr wrap="square" lIns="0" tIns="0" rIns="0" bIns="0" rtlCol="0" anchor="t">
            <a:normAutofit/>
          </a:bodyPr>
          <a:lstStyle/>
          <a:p>
            <a:pPr marL="0" indent="0" algn="l">
              <a:buNone/>
            </a:pPr>
            <a:r>
              <a:rPr lang="en-US" sz="1350" b="1" dirty="0">
                <a:solidFill>
                  <a:srgbClr val="2E75B6"/>
                </a:solidFill>
                <a:latin typeface="Arial" pitchFamily="34" charset="0"/>
                <a:ea typeface="Arial" pitchFamily="34" charset="-122"/>
                <a:cs typeface="Arial" pitchFamily="34" charset="-120"/>
              </a:rPr>
              <a:t>pdays_contacted + pdays_days</a:t>
            </a:r>
            <a:endParaRPr lang="en-US" sz="1350" dirty="0"/>
          </a:p>
        </p:txBody>
      </p:sp>
      <p:sp>
        <p:nvSpPr>
          <p:cNvPr id="14" name="Text 12"/>
          <p:cNvSpPr/>
          <p:nvPr/>
        </p:nvSpPr>
        <p:spPr>
          <a:xfrm>
            <a:off x="7772400" y="1133856"/>
            <a:ext cx="594360" cy="411480"/>
          </a:xfrm>
          <a:prstGeom prst="rect">
            <a:avLst/>
          </a:prstGeom>
          <a:noFill/>
          <a:ln/>
        </p:spPr>
        <p:txBody>
          <a:bodyPr wrap="square" lIns="0" tIns="0" rIns="0" bIns="0" rtlCol="0" anchor="t">
            <a:normAutofit/>
          </a:bodyPr>
          <a:lstStyle/>
          <a:p>
            <a:pPr marL="0" indent="0" algn="l">
              <a:buNone/>
            </a:pPr>
            <a:r>
              <a:rPr lang="en-US" sz="2600" b="1" dirty="0">
                <a:solidFill>
                  <a:srgbClr val="ED7D31"/>
                </a:solidFill>
                <a:latin typeface="Arial" pitchFamily="34" charset="0"/>
                <a:ea typeface="Arial" pitchFamily="34" charset="-122"/>
                <a:cs typeface="Arial" pitchFamily="34" charset="-120"/>
              </a:rPr>
              <a:t>03</a:t>
            </a:r>
            <a:endParaRPr lang="en-US" sz="2600" dirty="0"/>
          </a:p>
        </p:txBody>
      </p:sp>
      <p:sp>
        <p:nvSpPr>
          <p:cNvPr id="15" name="Shape 13"/>
          <p:cNvSpPr/>
          <p:nvPr/>
        </p:nvSpPr>
        <p:spPr>
          <a:xfrm>
            <a:off x="7772400" y="1691640"/>
            <a:ext cx="2651760" cy="0"/>
          </a:xfrm>
          <a:prstGeom prst="line">
            <a:avLst/>
          </a:prstGeom>
          <a:noFill/>
          <a:ln w="12700">
            <a:solidFill>
              <a:srgbClr val="D9D9D9"/>
            </a:solidFill>
            <a:prstDash val="solid"/>
          </a:ln>
        </p:spPr>
      </p:sp>
      <p:sp>
        <p:nvSpPr>
          <p:cNvPr id="16" name="Text 14"/>
          <p:cNvSpPr/>
          <p:nvPr/>
        </p:nvSpPr>
        <p:spPr>
          <a:xfrm>
            <a:off x="7772400" y="1920240"/>
            <a:ext cx="2743200" cy="274320"/>
          </a:xfrm>
          <a:prstGeom prst="rect">
            <a:avLst/>
          </a:prstGeom>
          <a:noFill/>
          <a:ln/>
        </p:spPr>
        <p:txBody>
          <a:bodyPr wrap="square" lIns="0" tIns="0" rIns="0" bIns="0" rtlCol="0" anchor="t">
            <a:normAutofit lnSpcReduction="10000"/>
          </a:bodyPr>
          <a:lstStyle/>
          <a:p>
            <a:pPr marL="0" indent="0" algn="l">
              <a:buNone/>
            </a:pPr>
            <a:r>
              <a:rPr lang="en-US" sz="1900" b="1" dirty="0">
                <a:solidFill>
                  <a:srgbClr val="1F4E79"/>
                </a:solidFill>
                <a:latin typeface="Arial" pitchFamily="34" charset="0"/>
                <a:ea typeface="Arial" pitchFamily="34" charset="-122"/>
                <a:cs typeface="Arial" pitchFamily="34" charset="-120"/>
              </a:rPr>
              <a:t>Keep unknown</a:t>
            </a:r>
            <a:endParaRPr lang="en-US" sz="1900" dirty="0"/>
          </a:p>
        </p:txBody>
      </p:sp>
      <p:sp>
        <p:nvSpPr>
          <p:cNvPr id="17" name="Text 15"/>
          <p:cNvSpPr/>
          <p:nvPr/>
        </p:nvSpPr>
        <p:spPr>
          <a:xfrm>
            <a:off x="7772400" y="2514600"/>
            <a:ext cx="2788920" cy="658368"/>
          </a:xfrm>
          <a:prstGeom prst="rect">
            <a:avLst/>
          </a:prstGeom>
          <a:noFill/>
          <a:ln/>
        </p:spPr>
        <p:txBody>
          <a:bodyPr wrap="square" lIns="0" tIns="0" rIns="0" bIns="0" rtlCol="0" anchor="ctr">
            <a:normAutofit/>
          </a:bodyPr>
          <a:lstStyle/>
          <a:p>
            <a:pPr marL="0" indent="0" algn="l">
              <a:buNone/>
            </a:pPr>
            <a:r>
              <a:rPr lang="en-US" sz="1500" dirty="0">
                <a:solidFill>
                  <a:srgbClr val="1F2937"/>
                </a:solidFill>
                <a:latin typeface="Arial" pitchFamily="34" charset="0"/>
                <a:ea typeface="Arial" pitchFamily="34" charset="-122"/>
                <a:cs typeface="Arial" pitchFamily="34" charset="-120"/>
              </a:rPr>
              <a:t>Missingness can be</a:t>
            </a:r>
            <a:endParaRPr lang="en-US" sz="1500" dirty="0"/>
          </a:p>
          <a:p>
            <a:pPr marL="0" indent="0" algn="l">
              <a:buNone/>
            </a:pPr>
            <a:r>
              <a:rPr lang="en-US" sz="1500" dirty="0">
                <a:solidFill>
                  <a:srgbClr val="1F2937"/>
                </a:solidFill>
                <a:latin typeface="Arial" pitchFamily="34" charset="0"/>
                <a:ea typeface="Arial" pitchFamily="34" charset="-122"/>
                <a:cs typeface="Arial" pitchFamily="34" charset="-120"/>
              </a:rPr>
              <a:t>operational information</a:t>
            </a:r>
            <a:endParaRPr lang="en-US" sz="1500" dirty="0"/>
          </a:p>
        </p:txBody>
      </p:sp>
      <p:sp>
        <p:nvSpPr>
          <p:cNvPr id="18" name="Text 16"/>
          <p:cNvSpPr/>
          <p:nvPr/>
        </p:nvSpPr>
        <p:spPr>
          <a:xfrm>
            <a:off x="7772400" y="3456432"/>
            <a:ext cx="2788920" cy="310896"/>
          </a:xfrm>
          <a:prstGeom prst="rect">
            <a:avLst/>
          </a:prstGeom>
          <a:noFill/>
          <a:ln/>
        </p:spPr>
        <p:txBody>
          <a:bodyPr wrap="square" lIns="0" tIns="0" rIns="0" bIns="0" rtlCol="0" anchor="t">
            <a:normAutofit/>
          </a:bodyPr>
          <a:lstStyle/>
          <a:p>
            <a:pPr marL="0" indent="0" algn="l">
              <a:buNone/>
            </a:pPr>
            <a:r>
              <a:rPr lang="en-US" sz="1350" b="1" dirty="0">
                <a:solidFill>
                  <a:srgbClr val="2E75B6"/>
                </a:solidFill>
                <a:latin typeface="Arial" pitchFamily="34" charset="0"/>
                <a:ea typeface="Arial" pitchFamily="34" charset="-122"/>
                <a:cs typeface="Arial" pitchFamily="34" charset="-120"/>
              </a:rPr>
              <a:t>Valid factor level</a:t>
            </a:r>
            <a:endParaRPr lang="en-US" sz="1350" dirty="0"/>
          </a:p>
        </p:txBody>
      </p:sp>
      <p:sp>
        <p:nvSpPr>
          <p:cNvPr id="19" name="Shape 17"/>
          <p:cNvSpPr/>
          <p:nvPr/>
        </p:nvSpPr>
        <p:spPr>
          <a:xfrm>
            <a:off x="1181100" y="4919870"/>
            <a:ext cx="9829800" cy="923742"/>
          </a:xfrm>
          <a:prstGeom prst="roundRect">
            <a:avLst>
              <a:gd name="adj" fmla="val 12903"/>
            </a:avLst>
          </a:prstGeom>
          <a:solidFill>
            <a:srgbClr val="DDEBF7"/>
          </a:solidFill>
          <a:ln w="10160">
            <a:solidFill>
              <a:srgbClr val="2E75B6"/>
            </a:solidFill>
            <a:prstDash val="solid"/>
          </a:ln>
        </p:spPr>
      </p:sp>
      <p:sp>
        <p:nvSpPr>
          <p:cNvPr id="20" name="Text 18"/>
          <p:cNvSpPr/>
          <p:nvPr/>
        </p:nvSpPr>
        <p:spPr>
          <a:xfrm>
            <a:off x="1335024" y="5084063"/>
            <a:ext cx="9537192" cy="705479"/>
          </a:xfrm>
          <a:prstGeom prst="rect">
            <a:avLst/>
          </a:prstGeom>
          <a:noFill/>
          <a:ln/>
        </p:spPr>
        <p:txBody>
          <a:bodyPr wrap="square" lIns="0" tIns="0" rIns="0" bIns="0" rtlCol="0" anchor="ctr">
            <a:noAutofit/>
          </a:bodyPr>
          <a:lstStyle/>
          <a:p>
            <a:pPr marL="0" indent="0" algn="ctr">
              <a:buNone/>
            </a:pPr>
            <a:r>
              <a:rPr lang="en-US" sz="2400" b="1" dirty="0">
                <a:solidFill>
                  <a:srgbClr val="1F4E79"/>
                </a:solidFill>
                <a:latin typeface="Arial" pitchFamily="34" charset="0"/>
                <a:ea typeface="Arial" pitchFamily="34" charset="-122"/>
                <a:cs typeface="Arial" pitchFamily="34" charset="-120"/>
              </a:rPr>
              <a:t>Categorical variables -&gt; factor + dummy. </a:t>
            </a:r>
          </a:p>
          <a:p>
            <a:pPr marL="0" indent="0" algn="ctr">
              <a:buNone/>
            </a:pPr>
            <a:r>
              <a:rPr lang="en-US" sz="2400" b="1" dirty="0">
                <a:solidFill>
                  <a:srgbClr val="1F4E79"/>
                </a:solidFill>
                <a:latin typeface="Arial" pitchFamily="34" charset="0"/>
                <a:ea typeface="Arial" pitchFamily="34" charset="-122"/>
                <a:cs typeface="Arial" pitchFamily="34" charset="-120"/>
              </a:rPr>
              <a:t>Numeric -&gt; centered and scaled where applicable.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What EDA Revealed</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sp>
      <p:pic>
        <p:nvPicPr>
          <p:cNvPr id="4" name="Image 0" descr="C:\Users\15759\Documents\New project\bank_report_assets\image1.png"/>
          <p:cNvPicPr>
            <a:picLocks noChangeAspect="1"/>
          </p:cNvPicPr>
          <p:nvPr/>
        </p:nvPicPr>
        <p:blipFill>
          <a:blip r:embed="rId3"/>
          <a:srcRect/>
          <a:stretch/>
        </p:blipFill>
        <p:spPr>
          <a:xfrm>
            <a:off x="294199" y="1069451"/>
            <a:ext cx="4744674" cy="3201691"/>
          </a:xfrm>
          <a:prstGeom prst="rect">
            <a:avLst/>
          </a:prstGeom>
        </p:spPr>
      </p:pic>
      <p:sp>
        <p:nvSpPr>
          <p:cNvPr id="6" name="Text 3"/>
          <p:cNvSpPr/>
          <p:nvPr/>
        </p:nvSpPr>
        <p:spPr>
          <a:xfrm>
            <a:off x="-299720" y="4480151"/>
            <a:ext cx="5623560"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Figure 1. Subscription rates across selected categorical predictors.</a:t>
            </a:r>
            <a:endParaRPr lang="en-US" sz="920" dirty="0"/>
          </a:p>
        </p:txBody>
      </p:sp>
      <p:pic>
        <p:nvPicPr>
          <p:cNvPr id="7" name="Image 1" descr="C:\Users\15759\Documents\New project\bank_report_assets\image3.png"/>
          <p:cNvPicPr>
            <a:picLocks noChangeAspect="1"/>
          </p:cNvPicPr>
          <p:nvPr/>
        </p:nvPicPr>
        <p:blipFill>
          <a:blip r:embed="rId4"/>
          <a:srcRect/>
          <a:stretch/>
        </p:blipFill>
        <p:spPr>
          <a:xfrm>
            <a:off x="8214506" y="1115568"/>
            <a:ext cx="3837175" cy="3203581"/>
          </a:xfrm>
          <a:prstGeom prst="rect">
            <a:avLst/>
          </a:prstGeom>
        </p:spPr>
      </p:pic>
      <p:sp>
        <p:nvSpPr>
          <p:cNvPr id="9" name="Text 5"/>
          <p:cNvSpPr/>
          <p:nvPr/>
        </p:nvSpPr>
        <p:spPr>
          <a:xfrm>
            <a:off x="7720340" y="4579310"/>
            <a:ext cx="5266944"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Figure 3. Correlation matrix for numeric predictors.</a:t>
            </a:r>
            <a:endParaRPr lang="en-US" sz="920" dirty="0"/>
          </a:p>
        </p:txBody>
      </p:sp>
      <p:sp>
        <p:nvSpPr>
          <p:cNvPr id="10" name="Shape 6"/>
          <p:cNvSpPr/>
          <p:nvPr/>
        </p:nvSpPr>
        <p:spPr>
          <a:xfrm>
            <a:off x="960120" y="5568696"/>
            <a:ext cx="64008" cy="64008"/>
          </a:xfrm>
          <a:prstGeom prst="ellipse">
            <a:avLst/>
          </a:prstGeom>
          <a:solidFill>
            <a:srgbClr val="ED7D31"/>
          </a:solidFill>
          <a:ln w="12700">
            <a:solidFill>
              <a:srgbClr val="ED7D31">
                <a:alpha val="0"/>
              </a:srgbClr>
            </a:solidFill>
            <a:prstDash val="solid"/>
          </a:ln>
        </p:spPr>
      </p:sp>
      <p:sp>
        <p:nvSpPr>
          <p:cNvPr id="11" name="Text 7"/>
          <p:cNvSpPr/>
          <p:nvPr/>
        </p:nvSpPr>
        <p:spPr>
          <a:xfrm>
            <a:off x="1106424" y="5504688"/>
            <a:ext cx="10460736" cy="219456"/>
          </a:xfrm>
          <a:prstGeom prst="rect">
            <a:avLst/>
          </a:prstGeom>
          <a:noFill/>
          <a:ln/>
        </p:spPr>
        <p:txBody>
          <a:bodyPr wrap="square" lIns="0" tIns="0" rIns="0" bIns="0" rtlCol="0" anchor="t">
            <a:normAutofit/>
          </a:bodyPr>
          <a:lstStyle/>
          <a:p>
            <a:pPr marL="0" indent="0" algn="l">
              <a:buNone/>
            </a:pPr>
            <a:r>
              <a:rPr lang="en-US" sz="1420" dirty="0">
                <a:solidFill>
                  <a:srgbClr val="1F2937"/>
                </a:solidFill>
                <a:latin typeface="Arial" pitchFamily="34" charset="0"/>
                <a:ea typeface="Arial" pitchFamily="34" charset="-122"/>
                <a:cs typeface="Arial" pitchFamily="34" charset="-120"/>
              </a:rPr>
              <a:t>Previously contacted: 63.83% vs 9.26%</a:t>
            </a:r>
            <a:endParaRPr lang="en-US" sz="1420" dirty="0"/>
          </a:p>
        </p:txBody>
      </p:sp>
      <p:sp>
        <p:nvSpPr>
          <p:cNvPr id="12" name="Shape 8"/>
          <p:cNvSpPr/>
          <p:nvPr/>
        </p:nvSpPr>
        <p:spPr>
          <a:xfrm>
            <a:off x="960120" y="5879592"/>
            <a:ext cx="64008" cy="64008"/>
          </a:xfrm>
          <a:prstGeom prst="ellipse">
            <a:avLst/>
          </a:prstGeom>
          <a:solidFill>
            <a:srgbClr val="ED7D31"/>
          </a:solidFill>
          <a:ln w="12700">
            <a:solidFill>
              <a:srgbClr val="ED7D31">
                <a:alpha val="0"/>
              </a:srgbClr>
            </a:solidFill>
            <a:prstDash val="solid"/>
          </a:ln>
        </p:spPr>
      </p:sp>
      <p:sp>
        <p:nvSpPr>
          <p:cNvPr id="13" name="Text 9"/>
          <p:cNvSpPr/>
          <p:nvPr/>
        </p:nvSpPr>
        <p:spPr>
          <a:xfrm>
            <a:off x="1106424" y="5815584"/>
            <a:ext cx="10460736" cy="219456"/>
          </a:xfrm>
          <a:prstGeom prst="rect">
            <a:avLst/>
          </a:prstGeom>
          <a:noFill/>
          <a:ln/>
        </p:spPr>
        <p:txBody>
          <a:bodyPr wrap="square" lIns="0" tIns="0" rIns="0" bIns="0" rtlCol="0" anchor="t">
            <a:normAutofit/>
          </a:bodyPr>
          <a:lstStyle/>
          <a:p>
            <a:pPr marL="0" indent="0" algn="l">
              <a:buNone/>
            </a:pPr>
            <a:r>
              <a:rPr lang="en-US" sz="1420" dirty="0">
                <a:solidFill>
                  <a:srgbClr val="1F2937"/>
                </a:solidFill>
                <a:latin typeface="Arial" pitchFamily="34" charset="0"/>
                <a:ea typeface="Arial" pitchFamily="34" charset="-122"/>
                <a:cs typeface="Arial" pitchFamily="34" charset="-120"/>
              </a:rPr>
              <a:t>Cellular beats telephone: 14.74% vs 5.23%</a:t>
            </a:r>
            <a:endParaRPr lang="en-US" sz="1420" dirty="0"/>
          </a:p>
        </p:txBody>
      </p:sp>
      <p:sp>
        <p:nvSpPr>
          <p:cNvPr id="14" name="Shape 10"/>
          <p:cNvSpPr/>
          <p:nvPr/>
        </p:nvSpPr>
        <p:spPr>
          <a:xfrm>
            <a:off x="960120" y="6190488"/>
            <a:ext cx="64008" cy="64008"/>
          </a:xfrm>
          <a:prstGeom prst="ellipse">
            <a:avLst/>
          </a:prstGeom>
          <a:solidFill>
            <a:srgbClr val="ED7D31"/>
          </a:solidFill>
          <a:ln w="12700">
            <a:solidFill>
              <a:srgbClr val="ED7D31">
                <a:alpha val="0"/>
              </a:srgbClr>
            </a:solidFill>
            <a:prstDash val="solid"/>
          </a:ln>
        </p:spPr>
      </p:sp>
      <p:sp>
        <p:nvSpPr>
          <p:cNvPr id="15" name="Text 11"/>
          <p:cNvSpPr/>
          <p:nvPr/>
        </p:nvSpPr>
        <p:spPr>
          <a:xfrm>
            <a:off x="1106424" y="6126480"/>
            <a:ext cx="10460736" cy="219456"/>
          </a:xfrm>
          <a:prstGeom prst="rect">
            <a:avLst/>
          </a:prstGeom>
          <a:noFill/>
          <a:ln/>
        </p:spPr>
        <p:txBody>
          <a:bodyPr wrap="square" lIns="0" tIns="0" rIns="0" bIns="0" rtlCol="0" anchor="t">
            <a:normAutofit/>
          </a:bodyPr>
          <a:lstStyle/>
          <a:p>
            <a:pPr marL="0" indent="0" algn="l">
              <a:buNone/>
            </a:pPr>
            <a:r>
              <a:rPr lang="en-US" sz="1420" dirty="0">
                <a:solidFill>
                  <a:srgbClr val="1F2937"/>
                </a:solidFill>
                <a:latin typeface="Arial" pitchFamily="34" charset="0"/>
                <a:ea typeface="Arial" pitchFamily="34" charset="-122"/>
                <a:cs typeface="Arial" pitchFamily="34" charset="-120"/>
              </a:rPr>
              <a:t>Macro variables are highly redundant</a:t>
            </a:r>
            <a:endParaRPr lang="en-US" sz="1420" dirty="0"/>
          </a:p>
        </p:txBody>
      </p:sp>
      <p:pic>
        <p:nvPicPr>
          <p:cNvPr id="17" name="Picture 4">
            <a:extLst>
              <a:ext uri="{FF2B5EF4-FFF2-40B4-BE49-F238E27FC236}">
                <a16:creationId xmlns:a16="http://schemas.microsoft.com/office/drawing/2014/main" id="{DB7979F6-0554-9D04-6FF7-14A995B7F94B}"/>
              </a:ext>
            </a:extLst>
          </p:cNvPr>
          <p:cNvPicPr>
            <a:picLocks noChangeAspect="1"/>
          </p:cNvPicPr>
          <p:nvPr/>
        </p:nvPicPr>
        <p:blipFill>
          <a:blip r:embed="rId5"/>
          <a:stretch>
            <a:fillRect/>
          </a:stretch>
        </p:blipFill>
        <p:spPr>
          <a:xfrm>
            <a:off x="5038873" y="1133856"/>
            <a:ext cx="2967533" cy="2996029"/>
          </a:xfrm>
          <a:prstGeom prst="rect">
            <a:avLst/>
          </a:prstGeom>
        </p:spPr>
      </p:pic>
      <p:sp>
        <p:nvSpPr>
          <p:cNvPr id="18" name="Text 3">
            <a:extLst>
              <a:ext uri="{FF2B5EF4-FFF2-40B4-BE49-F238E27FC236}">
                <a16:creationId xmlns:a16="http://schemas.microsoft.com/office/drawing/2014/main" id="{9551581F-9F58-49BA-7DE4-B900676E59DF}"/>
              </a:ext>
            </a:extLst>
          </p:cNvPr>
          <p:cNvSpPr/>
          <p:nvPr/>
        </p:nvSpPr>
        <p:spPr>
          <a:xfrm>
            <a:off x="5090160" y="4473503"/>
            <a:ext cx="3281680" cy="2371554"/>
          </a:xfrm>
          <a:prstGeom prst="rect">
            <a:avLst/>
          </a:prstGeom>
          <a:noFill/>
          <a:ln/>
        </p:spPr>
        <p:txBody>
          <a:bodyPr wrap="square" lIns="0" tIns="0" rIns="0" bIns="0" rtlCol="0" anchor="t">
            <a:normAutofit/>
          </a:bodyPr>
          <a:lstStyle/>
          <a:p>
            <a:pPr algn="ctr"/>
            <a:r>
              <a:rPr lang="en-US" sz="920" i="1" dirty="0">
                <a:solidFill>
                  <a:srgbClr val="7F7F7F"/>
                </a:solidFill>
                <a:latin typeface="Arial" pitchFamily="34" charset="0"/>
                <a:ea typeface="Arial" pitchFamily="34" charset="-122"/>
                <a:cs typeface="Arial" pitchFamily="34" charset="-120"/>
              </a:rPr>
              <a:t>Figure 2. </a:t>
            </a:r>
            <a:r>
              <a:rPr lang="en-US" altLang="zh-CN" sz="920" i="1" dirty="0">
                <a:solidFill>
                  <a:srgbClr val="7F7F7F"/>
                </a:solidFill>
                <a:latin typeface="Arial" pitchFamily="34" charset="0"/>
                <a:cs typeface="Arial" pitchFamily="34" charset="-120"/>
              </a:rPr>
              <a:t>Subscription rates by quintile for </a:t>
            </a:r>
            <a:r>
              <a:rPr lang="en-US" altLang="zh-CN" sz="920" i="1" dirty="0" err="1">
                <a:solidFill>
                  <a:srgbClr val="7F7F7F"/>
                </a:solidFill>
                <a:latin typeface="Arial" pitchFamily="34" charset="0"/>
                <a:cs typeface="Arial" pitchFamily="34" charset="-120"/>
              </a:rPr>
              <a:t>emp.var.rate</a:t>
            </a:r>
            <a:r>
              <a:rPr lang="en-US" altLang="zh-CN" sz="920" i="1" dirty="0">
                <a:solidFill>
                  <a:srgbClr val="7F7F7F"/>
                </a:solidFill>
                <a:latin typeface="Arial" pitchFamily="34" charset="0"/>
                <a:cs typeface="Arial" pitchFamily="34" charset="-120"/>
              </a:rPr>
              <a:t>, euribor3m, and </a:t>
            </a:r>
            <a:r>
              <a:rPr lang="en-US" altLang="zh-CN" sz="920" i="1" dirty="0" err="1">
                <a:solidFill>
                  <a:srgbClr val="7F7F7F"/>
                </a:solidFill>
                <a:latin typeface="Arial" pitchFamily="34" charset="0"/>
                <a:cs typeface="Arial" pitchFamily="34" charset="-120"/>
              </a:rPr>
              <a:t>nr.employed</a:t>
            </a:r>
            <a:r>
              <a:rPr lang="en-US" altLang="zh-CN" sz="920" i="1" dirty="0">
                <a:solidFill>
                  <a:srgbClr val="7F7F7F"/>
                </a:solidFill>
                <a:latin typeface="Arial" pitchFamily="34" charset="0"/>
                <a:cs typeface="Arial" pitchFamily="34" charset="-120"/>
              </a:rPr>
              <a:t>. The dashed line marks the overall positive-class baseline.</a:t>
            </a:r>
            <a:endParaRPr lang="en-US" sz="920" i="1" dirty="0">
              <a:solidFill>
                <a:srgbClr val="7F7F7F"/>
              </a:solidFill>
              <a:latin typeface="Arial" pitchFamily="34" charset="0"/>
              <a:cs typeface="Arial"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Modeling Pipeline</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txBody>
          <a:bodyPr/>
          <a:lstStyle/>
          <a:p>
            <a:endParaRPr lang="zh-CN" altLang="en-US"/>
          </a:p>
        </p:txBody>
      </p:sp>
      <p:sp>
        <p:nvSpPr>
          <p:cNvPr id="4" name="Shape 2"/>
          <p:cNvSpPr/>
          <p:nvPr/>
        </p:nvSpPr>
        <p:spPr>
          <a:xfrm>
            <a:off x="685800" y="1828800"/>
            <a:ext cx="1975104" cy="1234440"/>
          </a:xfrm>
          <a:prstGeom prst="roundRect">
            <a:avLst/>
          </a:prstGeom>
          <a:solidFill>
            <a:srgbClr val="DDEBF7"/>
          </a:solidFill>
          <a:ln w="12700">
            <a:solidFill>
              <a:srgbClr val="2E75B6"/>
            </a:solidFill>
            <a:prstDash val="solid"/>
          </a:ln>
        </p:spPr>
        <p:txBody>
          <a:bodyPr/>
          <a:lstStyle/>
          <a:p>
            <a:endParaRPr lang="zh-CN" altLang="en-US"/>
          </a:p>
        </p:txBody>
      </p:sp>
      <p:sp>
        <p:nvSpPr>
          <p:cNvPr id="5" name="Text 3"/>
          <p:cNvSpPr/>
          <p:nvPr/>
        </p:nvSpPr>
        <p:spPr>
          <a:xfrm>
            <a:off x="804672" y="2139696"/>
            <a:ext cx="1737360" cy="502920"/>
          </a:xfrm>
          <a:prstGeom prst="rect">
            <a:avLst/>
          </a:prstGeom>
          <a:noFill/>
          <a:ln/>
        </p:spPr>
        <p:txBody>
          <a:bodyPr wrap="square" lIns="0" tIns="0" rIns="0" bIns="0" rtlCol="0" anchor="ctr">
            <a:normAutofit/>
          </a:bodyPr>
          <a:lstStyle/>
          <a:p>
            <a:pPr marL="0" indent="0" algn="ctr">
              <a:buNone/>
            </a:pPr>
            <a:r>
              <a:rPr lang="en-US" sz="1370" b="1" dirty="0">
                <a:solidFill>
                  <a:srgbClr val="1F4E79"/>
                </a:solidFill>
                <a:latin typeface="Arial" pitchFamily="34" charset="0"/>
                <a:ea typeface="Arial" pitchFamily="34" charset="-122"/>
                <a:cs typeface="Arial" pitchFamily="34" charset="-120"/>
              </a:rPr>
              <a:t>Full data</a:t>
            </a:r>
            <a:endParaRPr lang="en-US" sz="1370" dirty="0"/>
          </a:p>
          <a:p>
            <a:pPr marL="0" indent="0" algn="ctr">
              <a:buNone/>
            </a:pPr>
            <a:r>
              <a:rPr lang="en-US" sz="1370" b="1" dirty="0">
                <a:solidFill>
                  <a:srgbClr val="1F4E79"/>
                </a:solidFill>
                <a:latin typeface="Arial" pitchFamily="34" charset="0"/>
                <a:ea typeface="Arial" pitchFamily="34" charset="-122"/>
                <a:cs typeface="Arial" pitchFamily="34" charset="-120"/>
              </a:rPr>
              <a:t>41,188</a:t>
            </a:r>
            <a:endParaRPr lang="en-US" sz="1370" dirty="0"/>
          </a:p>
        </p:txBody>
      </p:sp>
      <p:sp>
        <p:nvSpPr>
          <p:cNvPr id="6" name="Shape 4"/>
          <p:cNvSpPr/>
          <p:nvPr/>
        </p:nvSpPr>
        <p:spPr>
          <a:xfrm>
            <a:off x="2752344" y="2249424"/>
            <a:ext cx="384048" cy="347472"/>
          </a:xfrm>
          <a:prstGeom prst="rightArrow">
            <a:avLst/>
          </a:prstGeom>
          <a:solidFill>
            <a:srgbClr val="D9D9D9"/>
          </a:solidFill>
          <a:ln w="12700">
            <a:solidFill>
              <a:srgbClr val="D9D9D9">
                <a:alpha val="0"/>
              </a:srgbClr>
            </a:solidFill>
            <a:prstDash val="solid"/>
          </a:ln>
        </p:spPr>
        <p:txBody>
          <a:bodyPr/>
          <a:lstStyle/>
          <a:p>
            <a:endParaRPr lang="zh-CN" altLang="en-US"/>
          </a:p>
        </p:txBody>
      </p:sp>
      <p:sp>
        <p:nvSpPr>
          <p:cNvPr id="7" name="Shape 5"/>
          <p:cNvSpPr/>
          <p:nvPr/>
        </p:nvSpPr>
        <p:spPr>
          <a:xfrm>
            <a:off x="2971800" y="1828800"/>
            <a:ext cx="1975104" cy="1234440"/>
          </a:xfrm>
          <a:prstGeom prst="roundRect">
            <a:avLst/>
          </a:prstGeom>
          <a:solidFill>
            <a:srgbClr val="DDEBF7"/>
          </a:solidFill>
          <a:ln w="12700">
            <a:solidFill>
              <a:srgbClr val="2E75B6"/>
            </a:solidFill>
            <a:prstDash val="solid"/>
          </a:ln>
        </p:spPr>
        <p:txBody>
          <a:bodyPr/>
          <a:lstStyle/>
          <a:p>
            <a:endParaRPr lang="zh-CN" altLang="en-US"/>
          </a:p>
        </p:txBody>
      </p:sp>
      <p:sp>
        <p:nvSpPr>
          <p:cNvPr id="8" name="Text 6"/>
          <p:cNvSpPr/>
          <p:nvPr/>
        </p:nvSpPr>
        <p:spPr>
          <a:xfrm>
            <a:off x="3090672" y="2139696"/>
            <a:ext cx="1737360" cy="502920"/>
          </a:xfrm>
          <a:prstGeom prst="rect">
            <a:avLst/>
          </a:prstGeom>
          <a:noFill/>
          <a:ln/>
        </p:spPr>
        <p:txBody>
          <a:bodyPr wrap="square" lIns="0" tIns="0" rIns="0" bIns="0" rtlCol="0" anchor="ctr">
            <a:normAutofit/>
          </a:bodyPr>
          <a:lstStyle/>
          <a:p>
            <a:pPr marL="0" indent="0" algn="ctr">
              <a:buNone/>
            </a:pPr>
            <a:r>
              <a:rPr lang="en-US" sz="1370" b="1" dirty="0">
                <a:solidFill>
                  <a:srgbClr val="1F4E79"/>
                </a:solidFill>
                <a:latin typeface="Arial" pitchFamily="34" charset="0"/>
                <a:ea typeface="Arial" pitchFamily="34" charset="-122"/>
                <a:cs typeface="Arial" pitchFamily="34" charset="-120"/>
              </a:rPr>
              <a:t>Stratified</a:t>
            </a:r>
            <a:endParaRPr lang="en-US" sz="1370" dirty="0"/>
          </a:p>
          <a:p>
            <a:pPr marL="0" indent="0" algn="ctr">
              <a:buNone/>
            </a:pPr>
            <a:r>
              <a:rPr lang="en-US" sz="1370" b="1" dirty="0">
                <a:solidFill>
                  <a:srgbClr val="1F4E79"/>
                </a:solidFill>
                <a:latin typeface="Arial" pitchFamily="34" charset="0"/>
                <a:ea typeface="Arial" pitchFamily="34" charset="-122"/>
                <a:cs typeface="Arial" pitchFamily="34" charset="-120"/>
              </a:rPr>
              <a:t>80/20 split</a:t>
            </a:r>
            <a:endParaRPr lang="en-US" sz="1370" dirty="0"/>
          </a:p>
        </p:txBody>
      </p:sp>
      <p:sp>
        <p:nvSpPr>
          <p:cNvPr id="9" name="Shape 7"/>
          <p:cNvSpPr/>
          <p:nvPr/>
        </p:nvSpPr>
        <p:spPr>
          <a:xfrm>
            <a:off x="5038344" y="2249424"/>
            <a:ext cx="384048" cy="347472"/>
          </a:xfrm>
          <a:prstGeom prst="rightArrow">
            <a:avLst/>
          </a:prstGeom>
          <a:solidFill>
            <a:srgbClr val="D9D9D9"/>
          </a:solidFill>
          <a:ln w="12700">
            <a:solidFill>
              <a:srgbClr val="D9D9D9">
                <a:alpha val="0"/>
              </a:srgbClr>
            </a:solidFill>
            <a:prstDash val="solid"/>
          </a:ln>
        </p:spPr>
        <p:txBody>
          <a:bodyPr/>
          <a:lstStyle/>
          <a:p>
            <a:endParaRPr lang="zh-CN" altLang="en-US"/>
          </a:p>
        </p:txBody>
      </p:sp>
      <p:sp>
        <p:nvSpPr>
          <p:cNvPr id="10" name="Shape 8"/>
          <p:cNvSpPr/>
          <p:nvPr/>
        </p:nvSpPr>
        <p:spPr>
          <a:xfrm>
            <a:off x="5257800" y="1828800"/>
            <a:ext cx="1975104" cy="1234440"/>
          </a:xfrm>
          <a:prstGeom prst="roundRect">
            <a:avLst/>
          </a:prstGeom>
          <a:solidFill>
            <a:srgbClr val="DDEBF7"/>
          </a:solidFill>
          <a:ln w="12700">
            <a:solidFill>
              <a:srgbClr val="2E75B6"/>
            </a:solidFill>
            <a:prstDash val="solid"/>
          </a:ln>
        </p:spPr>
        <p:txBody>
          <a:bodyPr/>
          <a:lstStyle/>
          <a:p>
            <a:endParaRPr lang="zh-CN" altLang="en-US"/>
          </a:p>
        </p:txBody>
      </p:sp>
      <p:sp>
        <p:nvSpPr>
          <p:cNvPr id="11" name="Text 9"/>
          <p:cNvSpPr/>
          <p:nvPr/>
        </p:nvSpPr>
        <p:spPr>
          <a:xfrm>
            <a:off x="5376672" y="2139696"/>
            <a:ext cx="1737360" cy="502920"/>
          </a:xfrm>
          <a:prstGeom prst="rect">
            <a:avLst/>
          </a:prstGeom>
          <a:noFill/>
          <a:ln/>
        </p:spPr>
        <p:txBody>
          <a:bodyPr wrap="square" lIns="0" tIns="0" rIns="0" bIns="0" rtlCol="0" anchor="ctr">
            <a:normAutofit/>
          </a:bodyPr>
          <a:lstStyle/>
          <a:p>
            <a:pPr marL="0" indent="0" algn="ctr">
              <a:buNone/>
            </a:pPr>
            <a:r>
              <a:rPr lang="en-US" sz="1370" b="1" dirty="0">
                <a:solidFill>
                  <a:srgbClr val="1F4E79"/>
                </a:solidFill>
                <a:latin typeface="Arial" pitchFamily="34" charset="0"/>
                <a:ea typeface="Arial" pitchFamily="34" charset="-122"/>
                <a:cs typeface="Arial" pitchFamily="34" charset="-120"/>
              </a:rPr>
              <a:t>5-fold CV</a:t>
            </a:r>
            <a:endParaRPr lang="en-US" sz="1370" dirty="0"/>
          </a:p>
          <a:p>
            <a:pPr marL="0" indent="0" algn="ctr">
              <a:buNone/>
            </a:pPr>
            <a:r>
              <a:rPr lang="en-US" sz="1370" b="1" dirty="0">
                <a:solidFill>
                  <a:srgbClr val="1F4E79"/>
                </a:solidFill>
                <a:latin typeface="Arial" pitchFamily="34" charset="0"/>
                <a:ea typeface="Arial" pitchFamily="34" charset="-122"/>
                <a:cs typeface="Arial" pitchFamily="34" charset="-120"/>
              </a:rPr>
              <a:t>on training</a:t>
            </a:r>
            <a:endParaRPr lang="en-US" sz="1370" dirty="0"/>
          </a:p>
        </p:txBody>
      </p:sp>
      <p:sp>
        <p:nvSpPr>
          <p:cNvPr id="12" name="Shape 10"/>
          <p:cNvSpPr/>
          <p:nvPr/>
        </p:nvSpPr>
        <p:spPr>
          <a:xfrm>
            <a:off x="7324344" y="2249424"/>
            <a:ext cx="384048" cy="347472"/>
          </a:xfrm>
          <a:prstGeom prst="rightArrow">
            <a:avLst/>
          </a:prstGeom>
          <a:solidFill>
            <a:srgbClr val="D9D9D9"/>
          </a:solidFill>
          <a:ln w="12700">
            <a:solidFill>
              <a:srgbClr val="D9D9D9">
                <a:alpha val="0"/>
              </a:srgbClr>
            </a:solidFill>
            <a:prstDash val="solid"/>
          </a:ln>
        </p:spPr>
        <p:txBody>
          <a:bodyPr/>
          <a:lstStyle/>
          <a:p>
            <a:endParaRPr lang="zh-CN" altLang="en-US"/>
          </a:p>
        </p:txBody>
      </p:sp>
      <p:sp>
        <p:nvSpPr>
          <p:cNvPr id="13" name="Shape 11"/>
          <p:cNvSpPr/>
          <p:nvPr/>
        </p:nvSpPr>
        <p:spPr>
          <a:xfrm>
            <a:off x="7543800" y="1828800"/>
            <a:ext cx="1975104" cy="1234440"/>
          </a:xfrm>
          <a:prstGeom prst="roundRect">
            <a:avLst/>
          </a:prstGeom>
          <a:solidFill>
            <a:srgbClr val="DDEBF7"/>
          </a:solidFill>
          <a:ln w="12700">
            <a:solidFill>
              <a:srgbClr val="2E75B6"/>
            </a:solidFill>
            <a:prstDash val="solid"/>
          </a:ln>
        </p:spPr>
        <p:txBody>
          <a:bodyPr/>
          <a:lstStyle/>
          <a:p>
            <a:endParaRPr lang="zh-CN" altLang="en-US"/>
          </a:p>
        </p:txBody>
      </p:sp>
      <p:sp>
        <p:nvSpPr>
          <p:cNvPr id="14" name="Text 12"/>
          <p:cNvSpPr/>
          <p:nvPr/>
        </p:nvSpPr>
        <p:spPr>
          <a:xfrm>
            <a:off x="7662672" y="2139696"/>
            <a:ext cx="1737360" cy="502920"/>
          </a:xfrm>
          <a:prstGeom prst="rect">
            <a:avLst/>
          </a:prstGeom>
          <a:noFill/>
          <a:ln/>
        </p:spPr>
        <p:txBody>
          <a:bodyPr wrap="square" lIns="0" tIns="0" rIns="0" bIns="0" rtlCol="0" anchor="ctr">
            <a:normAutofit/>
          </a:bodyPr>
          <a:lstStyle/>
          <a:p>
            <a:pPr marL="0" indent="0" algn="ctr">
              <a:buNone/>
            </a:pPr>
            <a:r>
              <a:rPr lang="en-US" sz="1370" b="1" dirty="0">
                <a:solidFill>
                  <a:srgbClr val="1F4E79"/>
                </a:solidFill>
                <a:latin typeface="Arial" pitchFamily="34" charset="0"/>
                <a:ea typeface="Arial" pitchFamily="34" charset="-122"/>
                <a:cs typeface="Arial" pitchFamily="34" charset="-120"/>
              </a:rPr>
              <a:t>Threshold tuning</a:t>
            </a:r>
            <a:endParaRPr lang="en-US" sz="1370" dirty="0"/>
          </a:p>
          <a:p>
            <a:pPr marL="0" indent="0" algn="ctr">
              <a:buNone/>
            </a:pPr>
            <a:r>
              <a:rPr lang="en-US" sz="1370" b="1" dirty="0">
                <a:solidFill>
                  <a:srgbClr val="1F4E79"/>
                </a:solidFill>
                <a:latin typeface="Arial" pitchFamily="34" charset="0"/>
                <a:ea typeface="Arial" pitchFamily="34" charset="-122"/>
                <a:cs typeface="Arial" pitchFamily="34" charset="-120"/>
              </a:rPr>
              <a:t>on OOF probabilities</a:t>
            </a:r>
            <a:endParaRPr lang="en-US" sz="1370" dirty="0"/>
          </a:p>
        </p:txBody>
      </p:sp>
      <p:sp>
        <p:nvSpPr>
          <p:cNvPr id="15" name="Shape 13"/>
          <p:cNvSpPr/>
          <p:nvPr/>
        </p:nvSpPr>
        <p:spPr>
          <a:xfrm>
            <a:off x="9610344" y="2249424"/>
            <a:ext cx="384048" cy="347472"/>
          </a:xfrm>
          <a:prstGeom prst="rightArrow">
            <a:avLst/>
          </a:prstGeom>
          <a:solidFill>
            <a:srgbClr val="D9D9D9"/>
          </a:solidFill>
          <a:ln w="12700">
            <a:solidFill>
              <a:srgbClr val="D9D9D9">
                <a:alpha val="0"/>
              </a:srgbClr>
            </a:solidFill>
            <a:prstDash val="solid"/>
          </a:ln>
        </p:spPr>
        <p:txBody>
          <a:bodyPr/>
          <a:lstStyle/>
          <a:p>
            <a:endParaRPr lang="zh-CN" altLang="en-US"/>
          </a:p>
        </p:txBody>
      </p:sp>
      <p:sp>
        <p:nvSpPr>
          <p:cNvPr id="16" name="Shape 14"/>
          <p:cNvSpPr/>
          <p:nvPr/>
        </p:nvSpPr>
        <p:spPr>
          <a:xfrm>
            <a:off x="9829800" y="1828800"/>
            <a:ext cx="1975104" cy="1234440"/>
          </a:xfrm>
          <a:prstGeom prst="roundRect">
            <a:avLst/>
          </a:prstGeom>
          <a:solidFill>
            <a:srgbClr val="FCE4D6"/>
          </a:solidFill>
          <a:ln w="12700">
            <a:solidFill>
              <a:srgbClr val="ED7D31"/>
            </a:solidFill>
            <a:prstDash val="solid"/>
          </a:ln>
        </p:spPr>
        <p:txBody>
          <a:bodyPr/>
          <a:lstStyle/>
          <a:p>
            <a:endParaRPr lang="zh-CN" altLang="en-US"/>
          </a:p>
        </p:txBody>
      </p:sp>
      <p:sp>
        <p:nvSpPr>
          <p:cNvPr id="17" name="Text 15"/>
          <p:cNvSpPr/>
          <p:nvPr/>
        </p:nvSpPr>
        <p:spPr>
          <a:xfrm>
            <a:off x="9948672" y="2139696"/>
            <a:ext cx="1737360" cy="502920"/>
          </a:xfrm>
          <a:prstGeom prst="rect">
            <a:avLst/>
          </a:prstGeom>
          <a:noFill/>
          <a:ln/>
        </p:spPr>
        <p:txBody>
          <a:bodyPr wrap="square" lIns="0" tIns="0" rIns="0" bIns="0" rtlCol="0" anchor="ctr">
            <a:normAutofit/>
          </a:bodyPr>
          <a:lstStyle/>
          <a:p>
            <a:pPr marL="0" indent="0" algn="ctr">
              <a:buNone/>
            </a:pPr>
            <a:r>
              <a:rPr lang="en-US" sz="1370" b="1" dirty="0">
                <a:solidFill>
                  <a:srgbClr val="ED7D31"/>
                </a:solidFill>
                <a:latin typeface="Arial" pitchFamily="34" charset="0"/>
                <a:ea typeface="Arial" pitchFamily="34" charset="-122"/>
                <a:cs typeface="Arial" pitchFamily="34" charset="-120"/>
              </a:rPr>
              <a:t>Single test-set</a:t>
            </a:r>
            <a:endParaRPr lang="en-US" sz="1370" dirty="0"/>
          </a:p>
          <a:p>
            <a:pPr marL="0" indent="0" algn="ctr">
              <a:buNone/>
            </a:pPr>
            <a:r>
              <a:rPr lang="en-US" sz="1370" b="1" dirty="0">
                <a:solidFill>
                  <a:srgbClr val="ED7D31"/>
                </a:solidFill>
                <a:latin typeface="Arial" pitchFamily="34" charset="0"/>
                <a:ea typeface="Arial" pitchFamily="34" charset="-122"/>
                <a:cs typeface="Arial" pitchFamily="34" charset="-120"/>
              </a:rPr>
              <a:t>evaluation</a:t>
            </a:r>
            <a:endParaRPr lang="en-US" sz="1370" dirty="0"/>
          </a:p>
        </p:txBody>
      </p:sp>
      <p:sp>
        <p:nvSpPr>
          <p:cNvPr id="18" name="Shape 16"/>
          <p:cNvSpPr/>
          <p:nvPr/>
        </p:nvSpPr>
        <p:spPr>
          <a:xfrm>
            <a:off x="960120" y="4343400"/>
            <a:ext cx="10287000" cy="621792"/>
          </a:xfrm>
          <a:prstGeom prst="roundRect">
            <a:avLst>
              <a:gd name="adj" fmla="val 11765"/>
            </a:avLst>
          </a:prstGeom>
          <a:solidFill>
            <a:srgbClr val="F8FBFD"/>
          </a:solidFill>
          <a:ln w="10160">
            <a:solidFill>
              <a:srgbClr val="D9D9D9"/>
            </a:solidFill>
            <a:prstDash val="solid"/>
          </a:ln>
        </p:spPr>
        <p:txBody>
          <a:bodyPr/>
          <a:lstStyle/>
          <a:p>
            <a:endParaRPr lang="zh-CN" altLang="en-US"/>
          </a:p>
        </p:txBody>
      </p:sp>
      <p:sp>
        <p:nvSpPr>
          <p:cNvPr id="19" name="Text 17"/>
          <p:cNvSpPr/>
          <p:nvPr/>
        </p:nvSpPr>
        <p:spPr>
          <a:xfrm>
            <a:off x="1106424" y="4443984"/>
            <a:ext cx="9994392" cy="438912"/>
          </a:xfrm>
          <a:prstGeom prst="rect">
            <a:avLst/>
          </a:prstGeom>
          <a:noFill/>
          <a:ln/>
        </p:spPr>
        <p:txBody>
          <a:bodyPr wrap="square" lIns="0" tIns="0" rIns="0" bIns="0" rtlCol="0" anchor="ctr">
            <a:normAutofit/>
          </a:bodyPr>
          <a:lstStyle/>
          <a:p>
            <a:pPr marL="0" indent="0" algn="ctr">
              <a:buNone/>
            </a:pPr>
            <a:r>
              <a:rPr lang="en-US" sz="1500" b="1" dirty="0">
                <a:solidFill>
                  <a:srgbClr val="1F4E79"/>
                </a:solidFill>
                <a:latin typeface="Arial" pitchFamily="34" charset="0"/>
                <a:ea typeface="Arial" pitchFamily="34" charset="-122"/>
                <a:cs typeface="Arial" pitchFamily="34" charset="-120"/>
              </a:rPr>
              <a:t>Same folds  ·  PR-AUC tunes params  ·  OOF F1 tunes thresholds  ·  Test held out</a:t>
            </a:r>
            <a:endParaRPr lang="en-US" sz="1500" dirty="0"/>
          </a:p>
        </p:txBody>
      </p:sp>
      <p:sp>
        <p:nvSpPr>
          <p:cNvPr id="20" name="Text 18"/>
          <p:cNvSpPr/>
          <p:nvPr/>
        </p:nvSpPr>
        <p:spPr>
          <a:xfrm>
            <a:off x="5715000" y="6547104"/>
            <a:ext cx="5989320" cy="164592"/>
          </a:xfrm>
          <a:prstGeom prst="rect">
            <a:avLst/>
          </a:prstGeom>
          <a:noFill/>
          <a:ln/>
        </p:spPr>
        <p:txBody>
          <a:bodyPr wrap="square" lIns="0" tIns="0" rIns="0" bIns="0" rtlCol="0" anchor="t">
            <a:normAutofit/>
          </a:bodyPr>
          <a:lstStyle/>
          <a:p>
            <a:pPr marL="0" indent="0" algn="r">
              <a:buNone/>
            </a:pPr>
            <a:r>
              <a:rPr lang="en-US" sz="780" dirty="0">
                <a:solidFill>
                  <a:srgbClr val="7F7F7F"/>
                </a:solidFill>
                <a:latin typeface="Arial" pitchFamily="34" charset="0"/>
                <a:ea typeface="Arial" pitchFamily="34" charset="-122"/>
                <a:cs typeface="Arial" pitchFamily="34" charset="-120"/>
              </a:rPr>
              <a:t>STAT 474 Final · Slide 6 / 12 · Speaker B</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Six Models, Same CV Protocol</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txBody>
          <a:bodyPr/>
          <a:lstStyle/>
          <a:p>
            <a:endParaRPr lang="zh-CN" altLang="en-US"/>
          </a:p>
        </p:txBody>
      </p:sp>
      <p:graphicFrame>
        <p:nvGraphicFramePr>
          <p:cNvPr id="8" name="Table 0"/>
          <p:cNvGraphicFramePr>
            <a:graphicFrameLocks noGrp="1"/>
          </p:cNvGraphicFramePr>
          <p:nvPr/>
        </p:nvGraphicFramePr>
        <p:xfrm>
          <a:off x="411480" y="859536"/>
          <a:ext cx="11356848" cy="2660904"/>
        </p:xfrm>
        <a:graphic>
          <a:graphicData uri="http://schemas.openxmlformats.org/drawingml/2006/table">
            <a:tbl>
              <a:tblPr/>
              <a:tblGrid>
                <a:gridCol w="201168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3584448">
                  <a:extLst>
                    <a:ext uri="{9D8B030D-6E8A-4147-A177-3AD203B41FA5}">
                      <a16:colId xmlns:a16="http://schemas.microsoft.com/office/drawing/2014/main" val="20003"/>
                    </a:ext>
                  </a:extLst>
                </a:gridCol>
              </a:tblGrid>
              <a:tr h="301752">
                <a:tc>
                  <a:txBody>
                    <a:bodyPr/>
                    <a:lstStyle/>
                    <a:p>
                      <a:pPr marL="0" indent="0" algn="ctr">
                        <a:buNone/>
                      </a:pPr>
                      <a:r>
                        <a:rPr lang="en-US" sz="870" b="1" dirty="0">
                          <a:solidFill>
                            <a:srgbClr val="FFFFFF"/>
                          </a:solidFill>
                          <a:latin typeface="Arial" pitchFamily="34" charset="0"/>
                          <a:ea typeface="Arial" pitchFamily="34" charset="-122"/>
                          <a:cs typeface="Arial" pitchFamily="34" charset="-120"/>
                        </a:rPr>
                        <a:t>Model</a:t>
                      </a:r>
                      <a:endParaRPr lang="en-US" sz="8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870" b="1" dirty="0">
                          <a:solidFill>
                            <a:srgbClr val="FFFFFF"/>
                          </a:solidFill>
                          <a:latin typeface="Arial" pitchFamily="34" charset="0"/>
                          <a:ea typeface="Arial" pitchFamily="34" charset="-122"/>
                          <a:cs typeface="Arial" pitchFamily="34" charset="-120"/>
                        </a:rPr>
                        <a:t>One-line idea</a:t>
                      </a:r>
                      <a:endParaRPr lang="en-US" sz="8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870" b="1" dirty="0">
                          <a:solidFill>
                            <a:srgbClr val="FFFFFF"/>
                          </a:solidFill>
                          <a:latin typeface="Arial" pitchFamily="34" charset="0"/>
                          <a:ea typeface="Arial" pitchFamily="34" charset="-122"/>
                          <a:cs typeface="Arial" pitchFamily="34" charset="-120"/>
                        </a:rPr>
                        <a:t>Tuned hyperparameter</a:t>
                      </a:r>
                      <a:endParaRPr lang="en-US" sz="8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870" b="1" dirty="0">
                          <a:solidFill>
                            <a:srgbClr val="FFFFFF"/>
                          </a:solidFill>
                          <a:latin typeface="Arial" pitchFamily="34" charset="0"/>
                          <a:ea typeface="Arial" pitchFamily="34" charset="-122"/>
                          <a:cs typeface="Arial" pitchFamily="34" charset="-120"/>
                        </a:rPr>
                        <a:t>Role</a:t>
                      </a:r>
                      <a:endParaRPr lang="en-US" sz="8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93192">
                <a:tc>
                  <a:txBody>
                    <a:bodyPr/>
                    <a:lstStyle/>
                    <a:p>
                      <a:pPr marL="0" indent="0" algn="l">
                        <a:buNone/>
                      </a:pPr>
                      <a:r>
                        <a:rPr lang="en-US" sz="780" b="1" dirty="0">
                          <a:solidFill>
                            <a:srgbClr val="1F2937"/>
                          </a:solidFill>
                          <a:latin typeface="Arial" pitchFamily="34" charset="0"/>
                          <a:ea typeface="Arial" pitchFamily="34" charset="-122"/>
                          <a:cs typeface="Arial" pitchFamily="34" charset="-120"/>
                        </a:rPr>
                        <a:t>Logistic Regression</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8FBFD"/>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Linear log-odds</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Interpretable baseline</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l">
                        <a:buNone/>
                      </a:pPr>
                      <a:r>
                        <a:rPr lang="en-US" sz="780" b="1" dirty="0">
                          <a:solidFill>
                            <a:srgbClr val="1F2937"/>
                          </a:solidFill>
                          <a:latin typeface="Arial" pitchFamily="34" charset="0"/>
                          <a:ea typeface="Arial" pitchFamily="34" charset="-122"/>
                          <a:cs typeface="Arial" pitchFamily="34" charset="-120"/>
                        </a:rPr>
                        <a:t>LASSO Logistic</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8FBFD"/>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 L1 sparsity</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lambda via CV</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Feature selection benchmark</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lgn="l">
                        <a:buNone/>
                      </a:pPr>
                      <a:r>
                        <a:rPr lang="en-US" sz="780" b="1" dirty="0">
                          <a:solidFill>
                            <a:srgbClr val="1F2937"/>
                          </a:solidFill>
                          <a:latin typeface="Arial" pitchFamily="34" charset="0"/>
                          <a:ea typeface="Arial" pitchFamily="34" charset="-122"/>
                          <a:cs typeface="Arial" pitchFamily="34" charset="-120"/>
                        </a:rPr>
                        <a:t>Naive Bayes</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8FBFD"/>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Conditional independence</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Laplace in {0, 1}</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Generative benchmark</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l">
                        <a:buNone/>
                      </a:pPr>
                      <a:r>
                        <a:rPr lang="en-US" sz="780" b="1" dirty="0">
                          <a:solidFill>
                            <a:srgbClr val="1F2937"/>
                          </a:solidFill>
                          <a:latin typeface="Arial" pitchFamily="34" charset="0"/>
                          <a:ea typeface="Arial" pitchFamily="34" charset="-122"/>
                          <a:cs typeface="Arial" pitchFamily="34" charset="-120"/>
                        </a:rPr>
                        <a:t>Random Forest</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8FBFD"/>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Bagged decision trees</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mtry, min.node.size</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Strong nonparametric ensemble</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lgn="l">
                        <a:buNone/>
                      </a:pPr>
                      <a:r>
                        <a:rPr lang="en-US" sz="780" b="1" dirty="0">
                          <a:solidFill>
                            <a:srgbClr val="ED7D31"/>
                          </a:solidFill>
                          <a:latin typeface="Arial" pitchFamily="34" charset="0"/>
                          <a:ea typeface="Arial" pitchFamily="34" charset="-122"/>
                          <a:cs typeface="Arial" pitchFamily="34" charset="-120"/>
                        </a:rPr>
                        <a:t>Weighted XGBoost</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80" b="1" dirty="0">
                          <a:solidFill>
                            <a:srgbClr val="ED7D31"/>
                          </a:solidFill>
                          <a:latin typeface="Arial" pitchFamily="34" charset="0"/>
                          <a:ea typeface="Arial" pitchFamily="34" charset="-122"/>
                          <a:cs typeface="Arial" pitchFamily="34" charset="-120"/>
                        </a:rPr>
                        <a:t>Boosting + class weights</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80" b="1" dirty="0">
                          <a:solidFill>
                            <a:srgbClr val="ED7D31"/>
                          </a:solidFill>
                          <a:latin typeface="Arial" pitchFamily="34" charset="0"/>
                          <a:ea typeface="Arial" pitchFamily="34" charset="-122"/>
                          <a:cs typeface="Arial" pitchFamily="34" charset="-120"/>
                        </a:rPr>
                        <a:t>depth, lr, subsample, regularization</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80" b="1" dirty="0">
                          <a:solidFill>
                            <a:srgbClr val="ED7D31"/>
                          </a:solidFill>
                          <a:latin typeface="Arial" pitchFamily="34" charset="0"/>
                          <a:ea typeface="Arial" pitchFamily="34" charset="-122"/>
                          <a:cs typeface="Arial" pitchFamily="34" charset="-120"/>
                        </a:rPr>
                        <a:t>Final winner</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extLst>
                  <a:ext uri="{0D108BD9-81ED-4DB2-BD59-A6C34878D82A}">
                    <a16:rowId xmlns:a16="http://schemas.microsoft.com/office/drawing/2014/main" val="10005"/>
                  </a:ext>
                </a:extLst>
              </a:tr>
              <a:tr h="393192">
                <a:tc>
                  <a:txBody>
                    <a:bodyPr/>
                    <a:lstStyle/>
                    <a:p>
                      <a:pPr marL="0" indent="0" algn="l">
                        <a:buNone/>
                      </a:pPr>
                      <a:r>
                        <a:rPr lang="en-US" sz="780" b="1" dirty="0">
                          <a:solidFill>
                            <a:srgbClr val="1F2937"/>
                          </a:solidFill>
                          <a:latin typeface="Arial" pitchFamily="34" charset="0"/>
                          <a:ea typeface="Arial" pitchFamily="34" charset="-122"/>
                          <a:cs typeface="Arial" pitchFamily="34" charset="-120"/>
                        </a:rPr>
                        <a:t>PCA + Logistic</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8FBFD"/>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38 PCs -&gt; linear</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95% PVE rule -&gt; 38 PCs</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80" dirty="0">
                          <a:solidFill>
                            <a:srgbClr val="1F2937"/>
                          </a:solidFill>
                          <a:latin typeface="Arial" pitchFamily="34" charset="0"/>
                          <a:ea typeface="Arial" pitchFamily="34" charset="-122"/>
                          <a:cs typeface="Arial" pitchFamily="34" charset="-120"/>
                        </a:rPr>
                        <a:t>Dimensionality benchmark</a:t>
                      </a:r>
                      <a:endParaRPr lang="en-US" sz="78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3"/>
          <p:cNvSpPr/>
          <p:nvPr/>
        </p:nvSpPr>
        <p:spPr>
          <a:xfrm>
            <a:off x="528893" y="6464808"/>
            <a:ext cx="4956048"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Figure 4. LASSO PR-AUC by lambda.</a:t>
            </a:r>
            <a:endParaRPr lang="en-US" sz="920" dirty="0"/>
          </a:p>
        </p:txBody>
      </p:sp>
      <p:sp>
        <p:nvSpPr>
          <p:cNvPr id="10" name="Text 5"/>
          <p:cNvSpPr/>
          <p:nvPr/>
        </p:nvSpPr>
        <p:spPr>
          <a:xfrm>
            <a:off x="6490649" y="6464808"/>
            <a:ext cx="4736592"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Figure 5. PCA variance explained.</a:t>
            </a:r>
            <a:endParaRPr lang="en-US" sz="920" dirty="0"/>
          </a:p>
        </p:txBody>
      </p:sp>
      <p:pic>
        <p:nvPicPr>
          <p:cNvPr id="12" name="Picture 3">
            <a:extLst>
              <a:ext uri="{FF2B5EF4-FFF2-40B4-BE49-F238E27FC236}">
                <a16:creationId xmlns:a16="http://schemas.microsoft.com/office/drawing/2014/main" id="{9049C48C-3868-6356-E2E0-B8BFA4C21A2D}"/>
              </a:ext>
            </a:extLst>
          </p:cNvPr>
          <p:cNvPicPr>
            <a:picLocks noChangeAspect="1"/>
          </p:cNvPicPr>
          <p:nvPr/>
        </p:nvPicPr>
        <p:blipFill>
          <a:blip r:embed="rId3"/>
          <a:stretch>
            <a:fillRect/>
          </a:stretch>
        </p:blipFill>
        <p:spPr>
          <a:xfrm>
            <a:off x="944879" y="3610685"/>
            <a:ext cx="4124077" cy="2749385"/>
          </a:xfrm>
          <a:prstGeom prst="rect">
            <a:avLst/>
          </a:prstGeom>
        </p:spPr>
      </p:pic>
      <p:pic>
        <p:nvPicPr>
          <p:cNvPr id="13" name="Picture 4">
            <a:extLst>
              <a:ext uri="{FF2B5EF4-FFF2-40B4-BE49-F238E27FC236}">
                <a16:creationId xmlns:a16="http://schemas.microsoft.com/office/drawing/2014/main" id="{9EE710A8-10B0-F4FC-EB5E-3950F13C5A4F}"/>
              </a:ext>
            </a:extLst>
          </p:cNvPr>
          <p:cNvPicPr>
            <a:picLocks noChangeAspect="1"/>
          </p:cNvPicPr>
          <p:nvPr/>
        </p:nvPicPr>
        <p:blipFill>
          <a:blip r:embed="rId4"/>
          <a:stretch>
            <a:fillRect/>
          </a:stretch>
        </p:blipFill>
        <p:spPr>
          <a:xfrm>
            <a:off x="6735086" y="3610685"/>
            <a:ext cx="3969357" cy="26462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a:ln/>
        </p:spPr>
        <p:txBody>
          <a:bodyPr wrap="square" lIns="0" tIns="0" rIns="0" bIns="0" rtlCol="0" anchor="t">
            <a:normAutofit fontScale="92500" lnSpcReduction="10000"/>
          </a:bodyPr>
          <a:lstStyle/>
          <a:p>
            <a:pPr marL="0" indent="0" algn="l">
              <a:buNone/>
            </a:pPr>
            <a:r>
              <a:rPr lang="en-US" sz="3000" b="1" dirty="0">
                <a:solidFill>
                  <a:srgbClr val="1F4E79"/>
                </a:solidFill>
                <a:latin typeface="Arial" pitchFamily="34" charset="0"/>
                <a:ea typeface="Arial" pitchFamily="34" charset="-122"/>
                <a:cs typeface="Arial" pitchFamily="34" charset="-120"/>
              </a:rPr>
              <a:t>CV Results &amp; F1 Thresholds</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txBody>
          <a:bodyPr/>
          <a:lstStyle/>
          <a:p>
            <a:endParaRPr lang="zh-CN" altLang="en-US"/>
          </a:p>
        </p:txBody>
      </p:sp>
      <p:pic>
        <p:nvPicPr>
          <p:cNvPr id="4" name="Image 0" descr="C:\Users\15759\Documents\New project\bank_report_assets\image6.png"/>
          <p:cNvPicPr>
            <a:picLocks noChangeAspect="1"/>
          </p:cNvPicPr>
          <p:nvPr/>
        </p:nvPicPr>
        <p:blipFill>
          <a:blip r:embed="rId3"/>
          <a:srcRect/>
          <a:stretch/>
        </p:blipFill>
        <p:spPr>
          <a:xfrm>
            <a:off x="502920" y="1536192"/>
            <a:ext cx="6446520" cy="3858768"/>
          </a:xfrm>
          <a:prstGeom prst="rect">
            <a:avLst/>
          </a:prstGeom>
        </p:spPr>
      </p:pic>
      <p:sp>
        <p:nvSpPr>
          <p:cNvPr id="5" name="Shape 2"/>
          <p:cNvSpPr/>
          <p:nvPr/>
        </p:nvSpPr>
        <p:spPr>
          <a:xfrm>
            <a:off x="502920" y="1536192"/>
            <a:ext cx="6446520" cy="3858768"/>
          </a:xfrm>
          <a:prstGeom prst="rect">
            <a:avLst/>
          </a:prstGeom>
          <a:solidFill>
            <a:srgbClr val="FFFFFF">
              <a:alpha val="0"/>
            </a:srgbClr>
          </a:solidFill>
          <a:ln w="8255">
            <a:solidFill>
              <a:srgbClr val="D9D9D9"/>
            </a:solidFill>
            <a:prstDash val="solid"/>
          </a:ln>
        </p:spPr>
        <p:txBody>
          <a:bodyPr/>
          <a:lstStyle/>
          <a:p>
            <a:endParaRPr lang="zh-CN" altLang="en-US"/>
          </a:p>
        </p:txBody>
      </p:sp>
      <p:sp>
        <p:nvSpPr>
          <p:cNvPr id="6" name="Text 3"/>
          <p:cNvSpPr/>
          <p:nvPr/>
        </p:nvSpPr>
        <p:spPr>
          <a:xfrm>
            <a:off x="502920" y="5449824"/>
            <a:ext cx="6446520"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Figure 6. Cross-validated F1 across thresholds.</a:t>
            </a:r>
            <a:endParaRPr lang="en-US" sz="920" dirty="0"/>
          </a:p>
        </p:txBody>
      </p:sp>
      <p:graphicFrame>
        <p:nvGraphicFramePr>
          <p:cNvPr id="9" name="Table 0"/>
          <p:cNvGraphicFramePr>
            <a:graphicFrameLocks noGrp="1"/>
          </p:cNvGraphicFramePr>
          <p:nvPr/>
        </p:nvGraphicFramePr>
        <p:xfrm>
          <a:off x="7315200" y="1536192"/>
          <a:ext cx="4462272" cy="2286000"/>
        </p:xfrm>
        <a:graphic>
          <a:graphicData uri="http://schemas.openxmlformats.org/drawingml/2006/table">
            <a:tbl>
              <a:tblPr/>
              <a:tblGrid>
                <a:gridCol w="1627632">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0896">
                <a:tc>
                  <a:txBody>
                    <a:bodyPr/>
                    <a:lstStyle/>
                    <a:p>
                      <a:pPr marL="0" indent="0" algn="ctr">
                        <a:buNone/>
                      </a:pPr>
                      <a:r>
                        <a:rPr lang="en-US" sz="850" b="1" dirty="0">
                          <a:solidFill>
                            <a:srgbClr val="FFFFFF"/>
                          </a:solidFill>
                          <a:latin typeface="Arial" pitchFamily="34" charset="0"/>
                          <a:ea typeface="Arial" pitchFamily="34" charset="-122"/>
                          <a:cs typeface="Arial" pitchFamily="34" charset="-120"/>
                        </a:rPr>
                        <a:t>Model</a:t>
                      </a:r>
                      <a:endParaRPr lang="en-US" sz="85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850" b="1" dirty="0">
                          <a:solidFill>
                            <a:srgbClr val="FFFFFF"/>
                          </a:solidFill>
                          <a:latin typeface="Arial" pitchFamily="34" charset="0"/>
                          <a:ea typeface="Arial" pitchFamily="34" charset="-122"/>
                          <a:cs typeface="Arial" pitchFamily="34" charset="-120"/>
                        </a:rPr>
                        <a:t>CV PR-AUC</a:t>
                      </a:r>
                      <a:endParaRPr lang="en-US" sz="85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850" b="1" dirty="0">
                          <a:solidFill>
                            <a:srgbClr val="FFFFFF"/>
                          </a:solidFill>
                          <a:latin typeface="Arial" pitchFamily="34" charset="0"/>
                          <a:ea typeface="Arial" pitchFamily="34" charset="-122"/>
                          <a:cs typeface="Arial" pitchFamily="34" charset="-120"/>
                        </a:rPr>
                        <a:t>Threshold</a:t>
                      </a:r>
                      <a:endParaRPr lang="en-US" sz="85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850" b="1" dirty="0">
                          <a:solidFill>
                            <a:srgbClr val="FFFFFF"/>
                          </a:solidFill>
                          <a:latin typeface="Arial" pitchFamily="34" charset="0"/>
                          <a:ea typeface="Arial" pitchFamily="34" charset="-122"/>
                          <a:cs typeface="Arial" pitchFamily="34" charset="-120"/>
                        </a:rPr>
                        <a:t>CV F1</a:t>
                      </a:r>
                      <a:endParaRPr lang="en-US" sz="85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29184">
                <a:tc>
                  <a:txBody>
                    <a:bodyPr/>
                    <a:lstStyle/>
                    <a:p>
                      <a:pPr marL="0" indent="0" algn="l">
                        <a:buNone/>
                      </a:pPr>
                      <a:r>
                        <a:rPr lang="en-US" sz="770" dirty="0">
                          <a:solidFill>
                            <a:srgbClr val="1F2937"/>
                          </a:solidFill>
                          <a:latin typeface="Arial" pitchFamily="34" charset="0"/>
                          <a:ea typeface="Arial" pitchFamily="34" charset="-122"/>
                          <a:cs typeface="Arial" pitchFamily="34" charset="-120"/>
                        </a:rPr>
                        <a:t>Random Forest</a:t>
                      </a:r>
                      <a:endParaRPr lang="en-US" sz="7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0.4593</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0.24</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0.4973</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770" b="1" dirty="0">
                          <a:solidFill>
                            <a:srgbClr val="ED7D31"/>
                          </a:solidFill>
                          <a:latin typeface="Arial" pitchFamily="34" charset="0"/>
                          <a:ea typeface="Arial" pitchFamily="34" charset="-122"/>
                          <a:cs typeface="Arial" pitchFamily="34" charset="-120"/>
                        </a:rPr>
                        <a:t>Weighted XGBoost</a:t>
                      </a:r>
                      <a:endParaRPr lang="en-US" sz="7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70" b="1" dirty="0">
                          <a:solidFill>
                            <a:srgbClr val="ED7D31"/>
                          </a:solidFill>
                          <a:latin typeface="Consolas" pitchFamily="34" charset="0"/>
                          <a:ea typeface="Consolas" pitchFamily="34" charset="-122"/>
                          <a:cs typeface="Consolas" pitchFamily="34" charset="-120"/>
                        </a:rPr>
                        <a:t>0.4565</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70" b="1" dirty="0">
                          <a:solidFill>
                            <a:srgbClr val="ED7D31"/>
                          </a:solidFill>
                          <a:latin typeface="Consolas" pitchFamily="34" charset="0"/>
                          <a:ea typeface="Consolas" pitchFamily="34" charset="-122"/>
                          <a:cs typeface="Consolas" pitchFamily="34" charset="-120"/>
                        </a:rPr>
                        <a:t>0.65</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70" b="1" dirty="0">
                          <a:solidFill>
                            <a:srgbClr val="ED7D31"/>
                          </a:solidFill>
                          <a:latin typeface="Consolas" pitchFamily="34" charset="0"/>
                          <a:ea typeface="Consolas" pitchFamily="34" charset="-122"/>
                          <a:cs typeface="Consolas" pitchFamily="34" charset="-120"/>
                        </a:rPr>
                        <a:t>0.5018</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extLst>
                  <a:ext uri="{0D108BD9-81ED-4DB2-BD59-A6C34878D82A}">
                    <a16:rowId xmlns:a16="http://schemas.microsoft.com/office/drawing/2014/main" val="10002"/>
                  </a:ext>
                </a:extLst>
              </a:tr>
              <a:tr h="329184">
                <a:tc>
                  <a:txBody>
                    <a:bodyPr/>
                    <a:lstStyle/>
                    <a:p>
                      <a:pPr marL="0" indent="0" algn="l">
                        <a:buNone/>
                      </a:pPr>
                      <a:r>
                        <a:rPr lang="en-US" sz="770" dirty="0">
                          <a:solidFill>
                            <a:srgbClr val="1F2937"/>
                          </a:solidFill>
                          <a:latin typeface="Arial" pitchFamily="34" charset="0"/>
                          <a:ea typeface="Arial" pitchFamily="34" charset="-122"/>
                          <a:cs typeface="Arial" pitchFamily="34" charset="-120"/>
                        </a:rPr>
                        <a:t>LASSO Logistic</a:t>
                      </a:r>
                      <a:endParaRPr lang="en-US" sz="7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0.4429</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0.65</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0.4829</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770" dirty="0">
                          <a:solidFill>
                            <a:srgbClr val="1F2937"/>
                          </a:solidFill>
                          <a:latin typeface="Arial" pitchFamily="34" charset="0"/>
                          <a:ea typeface="Arial" pitchFamily="34" charset="-122"/>
                          <a:cs typeface="Arial" pitchFamily="34" charset="-120"/>
                        </a:rPr>
                        <a:t>Logistic</a:t>
                      </a:r>
                      <a:endParaRPr lang="en-US" sz="7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0.4416</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0.67</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0.4844</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770" dirty="0">
                          <a:solidFill>
                            <a:srgbClr val="1F2937"/>
                          </a:solidFill>
                          <a:latin typeface="Arial" pitchFamily="34" charset="0"/>
                          <a:ea typeface="Arial" pitchFamily="34" charset="-122"/>
                          <a:cs typeface="Arial" pitchFamily="34" charset="-120"/>
                        </a:rPr>
                        <a:t>PCA Logistic</a:t>
                      </a:r>
                      <a:endParaRPr lang="en-US" sz="7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0.4210</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0.61</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0.4758</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770" dirty="0">
                          <a:solidFill>
                            <a:srgbClr val="1F2937"/>
                          </a:solidFill>
                          <a:latin typeface="Arial" pitchFamily="34" charset="0"/>
                          <a:ea typeface="Arial" pitchFamily="34" charset="-122"/>
                          <a:cs typeface="Arial" pitchFamily="34" charset="-120"/>
                        </a:rPr>
                        <a:t>Naive Bayes</a:t>
                      </a:r>
                      <a:endParaRPr lang="en-US" sz="770" dirty="0">
                        <a:latin typeface="Arial" charset="0"/>
                        <a:ea typeface="Arial" charset="0"/>
                        <a:cs typeface="Arial"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0.3265</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0.94</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70" dirty="0">
                          <a:solidFill>
                            <a:srgbClr val="1F2937"/>
                          </a:solidFill>
                          <a:latin typeface="Consolas" pitchFamily="34" charset="0"/>
                          <a:ea typeface="Consolas" pitchFamily="34" charset="-122"/>
                          <a:cs typeface="Consolas" pitchFamily="34" charset="-120"/>
                        </a:rPr>
                        <a:t>0.4163</a:t>
                      </a:r>
                      <a:endParaRPr lang="en-US" sz="770" dirty="0">
                        <a:latin typeface="Consolas" charset="0"/>
                        <a:ea typeface="Consolas" charset="0"/>
                        <a:cs typeface="Consolas" charset="0"/>
                      </a:endParaRPr>
                    </a:p>
                  </a:txBody>
                  <a:tcPr marL="36576" marR="36576" marT="36576" marB="36576">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4"/>
          <p:cNvSpPr/>
          <p:nvPr/>
        </p:nvSpPr>
        <p:spPr>
          <a:xfrm>
            <a:off x="7315200" y="4352544"/>
            <a:ext cx="4462272" cy="164592"/>
          </a:xfrm>
          <a:prstGeom prst="rect">
            <a:avLst/>
          </a:prstGeom>
          <a:noFill/>
          <a:ln/>
        </p:spPr>
        <p:txBody>
          <a:bodyPr wrap="square" lIns="0" tIns="0" rIns="0" bIns="0" rtlCol="0" anchor="t">
            <a:normAutofit/>
          </a:bodyPr>
          <a:lstStyle/>
          <a:p>
            <a:pPr marL="0" indent="0" algn="ctr">
              <a:buNone/>
            </a:pPr>
            <a:r>
              <a:rPr lang="en-US" sz="920" i="1" dirty="0">
                <a:solidFill>
                  <a:srgbClr val="7F7F7F"/>
                </a:solidFill>
                <a:latin typeface="Arial" pitchFamily="34" charset="0"/>
                <a:ea typeface="Arial" pitchFamily="34" charset="-122"/>
                <a:cs typeface="Arial" pitchFamily="34" charset="-120"/>
              </a:rPr>
              <a:t>Table 3. Simplified CV comparison and F1 threshold selection.</a:t>
            </a:r>
            <a:endParaRPr lang="en-US" sz="920" dirty="0"/>
          </a:p>
        </p:txBody>
      </p:sp>
      <p:sp>
        <p:nvSpPr>
          <p:cNvPr id="7" name="Shape 5"/>
          <p:cNvSpPr/>
          <p:nvPr/>
        </p:nvSpPr>
        <p:spPr>
          <a:xfrm>
            <a:off x="7452360" y="4855464"/>
            <a:ext cx="4160520" cy="713232"/>
          </a:xfrm>
          <a:prstGeom prst="roundRect">
            <a:avLst>
              <a:gd name="adj" fmla="val 10256"/>
            </a:avLst>
          </a:prstGeom>
          <a:solidFill>
            <a:srgbClr val="FFF2CC"/>
          </a:solidFill>
          <a:ln w="10160">
            <a:solidFill>
              <a:srgbClr val="ED7D31"/>
            </a:solidFill>
            <a:prstDash val="solid"/>
          </a:ln>
        </p:spPr>
        <p:txBody>
          <a:bodyPr/>
          <a:lstStyle/>
          <a:p>
            <a:endParaRPr lang="zh-CN" altLang="en-US"/>
          </a:p>
        </p:txBody>
      </p:sp>
      <p:sp>
        <p:nvSpPr>
          <p:cNvPr id="10" name="Text 6"/>
          <p:cNvSpPr/>
          <p:nvPr/>
        </p:nvSpPr>
        <p:spPr>
          <a:xfrm>
            <a:off x="7598664" y="4956048"/>
            <a:ext cx="3867912" cy="530352"/>
          </a:xfrm>
          <a:prstGeom prst="rect">
            <a:avLst/>
          </a:prstGeom>
          <a:noFill/>
          <a:ln/>
        </p:spPr>
        <p:txBody>
          <a:bodyPr wrap="square" lIns="0" tIns="0" rIns="0" bIns="0" rtlCol="0" anchor="ctr">
            <a:normAutofit/>
          </a:bodyPr>
          <a:lstStyle/>
          <a:p>
            <a:pPr marL="0" indent="0" algn="ctr">
              <a:buNone/>
            </a:pPr>
            <a:r>
              <a:rPr lang="en-US" sz="1420" b="1" dirty="0">
                <a:solidFill>
                  <a:srgbClr val="ED7D31"/>
                </a:solidFill>
                <a:latin typeface="Arial" pitchFamily="34" charset="0"/>
                <a:ea typeface="Arial" pitchFamily="34" charset="-122"/>
                <a:cs typeface="Arial" pitchFamily="34" charset="-120"/>
              </a:rPr>
              <a:t>Thresholds vary from 0.24 to 0.94</a:t>
            </a:r>
            <a:endParaRPr lang="en-US" sz="1420" dirty="0"/>
          </a:p>
          <a:p>
            <a:pPr marL="0" indent="0" algn="ctr">
              <a:buNone/>
            </a:pPr>
            <a:r>
              <a:rPr lang="en-US" sz="1420" b="1" dirty="0">
                <a:solidFill>
                  <a:srgbClr val="ED7D31"/>
                </a:solidFill>
                <a:latin typeface="Arial" pitchFamily="34" charset="0"/>
                <a:ea typeface="Arial" pitchFamily="34" charset="-122"/>
                <a:cs typeface="Arial" pitchFamily="34" charset="-120"/>
              </a:rPr>
              <a:t>because probability scales differ by model</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p:spPr>
        <p:txBody>
          <a:bodyPr wrap="square" lIns="0" tIns="0" rIns="0" bIns="0" rtlCol="0" anchor="t">
            <a:normAutofit fontScale="90000" lnSpcReduction="10000"/>
          </a:bodyPr>
          <a:lstStyle/>
          <a:p>
            <a:pPr marL="0" indent="0" algn="l">
              <a:buNone/>
            </a:pPr>
            <a:r>
              <a:rPr lang="en-US" sz="3000" b="1" dirty="0">
                <a:solidFill>
                  <a:srgbClr val="1F4E79"/>
                </a:solidFill>
                <a:latin typeface="Arial" panose="020B0604020202020204" pitchFamily="34" charset="0"/>
                <a:ea typeface="Arial" panose="020B0604020202020204" pitchFamily="34" charset="-122"/>
                <a:cs typeface="Arial" panose="020B0604020202020204" pitchFamily="34" charset="-120"/>
              </a:rPr>
              <a:t>Held-Out Test Performance</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sp>
      <p:graphicFrame>
        <p:nvGraphicFramePr>
          <p:cNvPr id="10" name="Table 0"/>
          <p:cNvGraphicFramePr>
            <a:graphicFrameLocks noGrp="1"/>
          </p:cNvGraphicFramePr>
          <p:nvPr>
            <p:custDataLst>
              <p:tags r:id="rId1"/>
            </p:custDataLst>
          </p:nvPr>
        </p:nvGraphicFramePr>
        <p:xfrm>
          <a:off x="698500" y="822960"/>
          <a:ext cx="10703560" cy="2138045"/>
        </p:xfrm>
        <a:graphic>
          <a:graphicData uri="http://schemas.openxmlformats.org/drawingml/2006/table">
            <a:tbl>
              <a:tblPr/>
              <a:tblGrid>
                <a:gridCol w="1971675">
                  <a:extLst>
                    <a:ext uri="{9D8B030D-6E8A-4147-A177-3AD203B41FA5}">
                      <a16:colId xmlns:a16="http://schemas.microsoft.com/office/drawing/2014/main" val="20000"/>
                    </a:ext>
                  </a:extLst>
                </a:gridCol>
                <a:gridCol w="938530">
                  <a:extLst>
                    <a:ext uri="{9D8B030D-6E8A-4147-A177-3AD203B41FA5}">
                      <a16:colId xmlns:a16="http://schemas.microsoft.com/office/drawing/2014/main" val="20001"/>
                    </a:ext>
                  </a:extLst>
                </a:gridCol>
                <a:gridCol w="1174115">
                  <a:extLst>
                    <a:ext uri="{9D8B030D-6E8A-4147-A177-3AD203B41FA5}">
                      <a16:colId xmlns:a16="http://schemas.microsoft.com/office/drawing/2014/main" val="20002"/>
                    </a:ext>
                  </a:extLst>
                </a:gridCol>
                <a:gridCol w="1173480">
                  <a:extLst>
                    <a:ext uri="{9D8B030D-6E8A-4147-A177-3AD203B41FA5}">
                      <a16:colId xmlns:a16="http://schemas.microsoft.com/office/drawing/2014/main" val="20003"/>
                    </a:ext>
                  </a:extLst>
                </a:gridCol>
                <a:gridCol w="1267460">
                  <a:extLst>
                    <a:ext uri="{9D8B030D-6E8A-4147-A177-3AD203B41FA5}">
                      <a16:colId xmlns:a16="http://schemas.microsoft.com/office/drawing/2014/main" val="20004"/>
                    </a:ext>
                  </a:extLst>
                </a:gridCol>
                <a:gridCol w="1033145">
                  <a:extLst>
                    <a:ext uri="{9D8B030D-6E8A-4147-A177-3AD203B41FA5}">
                      <a16:colId xmlns:a16="http://schemas.microsoft.com/office/drawing/2014/main" val="20005"/>
                    </a:ext>
                  </a:extLst>
                </a:gridCol>
                <a:gridCol w="1549400">
                  <a:extLst>
                    <a:ext uri="{9D8B030D-6E8A-4147-A177-3AD203B41FA5}">
                      <a16:colId xmlns:a16="http://schemas.microsoft.com/office/drawing/2014/main" val="20006"/>
                    </a:ext>
                  </a:extLst>
                </a:gridCol>
                <a:gridCol w="1595755">
                  <a:extLst>
                    <a:ext uri="{9D8B030D-6E8A-4147-A177-3AD203B41FA5}">
                      <a16:colId xmlns:a16="http://schemas.microsoft.com/office/drawing/2014/main" val="20007"/>
                    </a:ext>
                  </a:extLst>
                </a:gridCol>
              </a:tblGrid>
              <a:tr h="305435">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Model</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Thr.</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Acc.</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Prec.</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Recall</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F1</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ROC-AUC</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tc>
                  <a:txBody>
                    <a:bodyPr/>
                    <a:lstStyle/>
                    <a:p>
                      <a:pPr marL="0" indent="0" algn="ctr">
                        <a:buNone/>
                      </a:pPr>
                      <a:r>
                        <a:rPr lang="en-US" sz="780" b="1" dirty="0">
                          <a:solidFill>
                            <a:srgbClr val="FFFFFF"/>
                          </a:solidFill>
                          <a:latin typeface="Arial" panose="020B0604020202020204" pitchFamily="34" charset="0"/>
                          <a:ea typeface="Arial" panose="020B0604020202020204" pitchFamily="34" charset="-122"/>
                          <a:cs typeface="Arial" panose="020B0604020202020204" pitchFamily="34" charset="-120"/>
                        </a:rPr>
                        <a:t>PR-AUC</a:t>
                      </a:r>
                      <a:endParaRPr lang="en-US" sz="78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05435">
                <a:tc>
                  <a:txBody>
                    <a:bodyPr/>
                    <a:lstStyle/>
                    <a:p>
                      <a:pPr marL="0" indent="0" algn="l">
                        <a:buNone/>
                      </a:pPr>
                      <a:r>
                        <a:rPr lang="en-US" sz="730" b="1" dirty="0">
                          <a:solidFill>
                            <a:srgbClr val="ED7D31"/>
                          </a:solidFill>
                          <a:latin typeface="Arial" panose="020B0604020202020204" pitchFamily="34" charset="0"/>
                          <a:ea typeface="Arial" panose="020B0604020202020204" pitchFamily="34" charset="-122"/>
                          <a:cs typeface="Arial" panose="020B0604020202020204" pitchFamily="34" charset="-120"/>
                        </a:rPr>
                        <a:t>Weighted XGBoost</a:t>
                      </a:r>
                      <a:endParaRPr lang="en-US" sz="73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0.65</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0.8776</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0.4663</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0.5970</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0.5236</a:t>
                      </a:r>
                      <a:endParaRPr lang="en-US" sz="730" b="1"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0.8092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tc>
                  <a:txBody>
                    <a:bodyPr/>
                    <a:lstStyle/>
                    <a:p>
                      <a:pPr marL="0" indent="0" algn="ctr">
                        <a:buNone/>
                      </a:pPr>
                      <a:r>
                        <a:rPr lang="en-US" sz="730" b="1" dirty="0">
                          <a:solidFill>
                            <a:srgbClr val="ED7D31"/>
                          </a:solidFill>
                          <a:latin typeface="Consolas" panose="020B0609020204030204" pitchFamily="34" charset="0"/>
                          <a:ea typeface="Consolas" panose="020B0609020204030204" pitchFamily="34" charset="-122"/>
                          <a:cs typeface="Consolas" panose="020B0609020204030204" pitchFamily="34" charset="-120"/>
                        </a:rPr>
                        <a:t>0.5009</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CE4D6"/>
                    </a:solidFill>
                  </a:tcPr>
                </a:tc>
                <a:extLst>
                  <a:ext uri="{0D108BD9-81ED-4DB2-BD59-A6C34878D82A}">
                    <a16:rowId xmlns:a16="http://schemas.microsoft.com/office/drawing/2014/main" val="10001"/>
                  </a:ext>
                </a:extLst>
              </a:tr>
              <a:tr h="305435">
                <a:tc>
                  <a:txBody>
                    <a:bodyPr/>
                    <a:lstStyle/>
                    <a:p>
                      <a:pPr marL="0" indent="0" algn="l">
                        <a:buNone/>
                      </a:pPr>
                      <a:r>
                        <a:rPr lang="en-US" sz="730" dirty="0">
                          <a:solidFill>
                            <a:srgbClr val="1F2937"/>
                          </a:solidFill>
                          <a:latin typeface="Arial" panose="020B0604020202020204" pitchFamily="34" charset="0"/>
                          <a:ea typeface="Arial" panose="020B0604020202020204" pitchFamily="34" charset="-122"/>
                          <a:cs typeface="Arial" panose="020B0604020202020204" pitchFamily="34" charset="-120"/>
                        </a:rPr>
                        <a:t>Random Forest</a:t>
                      </a:r>
                      <a:endParaRPr lang="en-US" sz="73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0.24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0.8786</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0.4689</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0.5851</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0.5206</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0.8048</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0.4966</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5435">
                <a:tc>
                  <a:txBody>
                    <a:bodyPr/>
                    <a:lstStyle/>
                    <a:p>
                      <a:pPr marL="0" indent="0" algn="l">
                        <a:buNone/>
                      </a:pPr>
                      <a:r>
                        <a:rPr lang="en-US" sz="730" dirty="0">
                          <a:solidFill>
                            <a:srgbClr val="1F2937"/>
                          </a:solidFill>
                          <a:latin typeface="Arial" panose="020B0604020202020204" pitchFamily="34" charset="0"/>
                          <a:ea typeface="Arial" panose="020B0604020202020204" pitchFamily="34" charset="-122"/>
                          <a:cs typeface="Arial" panose="020B0604020202020204" pitchFamily="34" charset="-120"/>
                        </a:rPr>
                        <a:t>Logistic</a:t>
                      </a:r>
                      <a:endParaRPr lang="en-US" sz="73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0.67</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0.8718</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0.4468</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0.5787</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0.5042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0.7982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0.4731</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5435">
                <a:tc>
                  <a:txBody>
                    <a:bodyPr/>
                    <a:lstStyle/>
                    <a:p>
                      <a:pPr marL="0" indent="0" algn="l">
                        <a:buNone/>
                      </a:pPr>
                      <a:r>
                        <a:rPr lang="en-US" sz="730" dirty="0">
                          <a:solidFill>
                            <a:srgbClr val="1F2937"/>
                          </a:solidFill>
                          <a:latin typeface="Arial" panose="020B0604020202020204" pitchFamily="34" charset="0"/>
                          <a:ea typeface="Arial" panose="020B0604020202020204" pitchFamily="34" charset="-122"/>
                          <a:cs typeface="Arial" panose="020B0604020202020204" pitchFamily="34" charset="-120"/>
                        </a:rPr>
                        <a:t>LASSO</a:t>
                      </a:r>
                      <a:endParaRPr lang="en-US" sz="73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0.65</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0.8662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0.4314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0.5894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0.4982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0.7974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0.4692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5435">
                <a:tc>
                  <a:txBody>
                    <a:bodyPr/>
                    <a:lstStyle/>
                    <a:p>
                      <a:pPr marL="0" indent="0" algn="l">
                        <a:buNone/>
                      </a:pPr>
                      <a:r>
                        <a:rPr lang="en-US" sz="730" dirty="0">
                          <a:solidFill>
                            <a:srgbClr val="1F2937"/>
                          </a:solidFill>
                          <a:latin typeface="Arial" panose="020B0604020202020204" pitchFamily="34" charset="0"/>
                          <a:ea typeface="Arial" panose="020B0604020202020204" pitchFamily="34" charset="-122"/>
                          <a:cs typeface="Arial" panose="020B0604020202020204" pitchFamily="34" charset="-120"/>
                        </a:rPr>
                        <a:t>PCA Logistic</a:t>
                      </a:r>
                      <a:endParaRPr lang="en-US" sz="73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0.61</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0.8609</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0.4168</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0.5884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0.4879</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0.7938</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0.4454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5435">
                <a:tc>
                  <a:txBody>
                    <a:bodyPr/>
                    <a:lstStyle/>
                    <a:p>
                      <a:pPr marL="0" indent="0" algn="l">
                        <a:buNone/>
                      </a:pPr>
                      <a:r>
                        <a:rPr lang="en-US" sz="730" dirty="0">
                          <a:solidFill>
                            <a:srgbClr val="1F2937"/>
                          </a:solidFill>
                          <a:latin typeface="Arial" panose="020B0604020202020204" pitchFamily="34" charset="0"/>
                          <a:ea typeface="Arial" panose="020B0604020202020204" pitchFamily="34" charset="-122"/>
                          <a:cs typeface="Arial" panose="020B0604020202020204" pitchFamily="34" charset="-120"/>
                        </a:rPr>
                        <a:t>Naive Bayes</a:t>
                      </a:r>
                      <a:endParaRPr lang="en-US" sz="730" dirty="0">
                        <a:latin typeface="Arial" panose="020B0604020202020204" pitchFamily="34" charset="0"/>
                        <a:ea typeface="Arial" panose="020B0604020202020204" pitchFamily="34" charset="0"/>
                        <a:cs typeface="Arial" panose="020B060402020202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0.94</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0.8557</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0.3886</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0.4903</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0.4335</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0.7627</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730" dirty="0">
                          <a:solidFill>
                            <a:srgbClr val="1F2937"/>
                          </a:solidFill>
                          <a:latin typeface="Consolas" panose="020B0609020204030204" pitchFamily="34" charset="0"/>
                          <a:ea typeface="Consolas" panose="020B0609020204030204" pitchFamily="34" charset="-122"/>
                          <a:cs typeface="Consolas" panose="020B0609020204030204" pitchFamily="34" charset="-120"/>
                        </a:rPr>
                        <a:t>0.3392</a:t>
                      </a:r>
                      <a:endParaRPr lang="en-US" sz="730" dirty="0">
                        <a:latin typeface="Consolas" panose="020B0609020204030204" pitchFamily="34" charset="0"/>
                        <a:ea typeface="Consolas" panose="020B0609020204030204" pitchFamily="34" charset="0"/>
                        <a:cs typeface="Consolas" panose="020B0609020204030204" pitchFamily="34" charset="0"/>
                      </a:endParaRPr>
                    </a:p>
                  </a:txBody>
                  <a:tcPr marL="36576" marR="36576" marT="36576" marB="36576" anchor="ctr">
                    <a:lnL w="5715" cap="flat" cmpd="sng" algn="ctr">
                      <a:solidFill>
                        <a:srgbClr val="D9D9D9"/>
                      </a:solidFill>
                      <a:prstDash val="solid"/>
                      <a:round/>
                      <a:headEnd type="none" w="med" len="med"/>
                      <a:tailEnd type="none" w="med" len="med"/>
                    </a:lnL>
                    <a:lnR w="5715" cap="flat" cmpd="sng" algn="ctr">
                      <a:solidFill>
                        <a:srgbClr val="D9D9D9"/>
                      </a:solidFill>
                      <a:prstDash val="solid"/>
                      <a:round/>
                      <a:headEnd type="none" w="med" len="med"/>
                      <a:tailEnd type="none" w="med" len="med"/>
                    </a:lnR>
                    <a:lnT w="5715" cap="flat" cmpd="sng" algn="ctr">
                      <a:solidFill>
                        <a:srgbClr val="D9D9D9"/>
                      </a:solidFill>
                      <a:prstDash val="solid"/>
                      <a:round/>
                      <a:headEnd type="none" w="med" len="med"/>
                      <a:tailEnd type="none" w="med" len="med"/>
                    </a:lnT>
                    <a:lnB w="571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custDataLst>
              <p:tags r:id="rId2"/>
            </p:custDataLst>
          </p:nvPr>
        </p:nvSpPr>
        <p:spPr>
          <a:xfrm>
            <a:off x="426720" y="3065272"/>
            <a:ext cx="11247120" cy="164592"/>
          </a:xfrm>
          <a:prstGeom prst="rect">
            <a:avLst/>
          </a:prstGeom>
          <a:noFill/>
        </p:spPr>
        <p:txBody>
          <a:bodyPr wrap="square" lIns="0" tIns="0" rIns="0" bIns="0" rtlCol="0" anchor="t">
            <a:normAutofit/>
          </a:bodyPr>
          <a:lstStyle/>
          <a:p>
            <a:pPr marL="0" indent="0" algn="ctr">
              <a:buNone/>
            </a:pPr>
            <a:r>
              <a:rPr lang="en-US" sz="920" i="1" dirty="0">
                <a:solidFill>
                  <a:srgbClr val="7F7F7F"/>
                </a:solidFill>
                <a:latin typeface="Arial" panose="020B0604020202020204" pitchFamily="34" charset="0"/>
                <a:ea typeface="Arial" panose="020B0604020202020204" pitchFamily="34" charset="-122"/>
                <a:cs typeface="Arial" panose="020B0604020202020204" pitchFamily="34" charset="-120"/>
              </a:rPr>
              <a:t>Table 4. Held-out test performance using cross-validated thresholds.</a:t>
            </a:r>
            <a:endParaRPr lang="en-US" sz="920" dirty="0"/>
          </a:p>
        </p:txBody>
      </p:sp>
      <p:pic>
        <p:nvPicPr>
          <p:cNvPr id="6" name="Image 0" descr="C:\Users\15759\Documents\New project\bank_report_assets\image9.png"/>
          <p:cNvPicPr>
            <a:picLocks noChangeAspect="1"/>
          </p:cNvPicPr>
          <p:nvPr>
            <p:custDataLst>
              <p:tags r:id="rId3"/>
            </p:custDataLst>
          </p:nvPr>
        </p:nvPicPr>
        <p:blipFill>
          <a:blip r:embed="rId9"/>
          <a:srcRect/>
          <a:stretch>
            <a:fillRect/>
          </a:stretch>
        </p:blipFill>
        <p:spPr>
          <a:xfrm>
            <a:off x="813435" y="3614420"/>
            <a:ext cx="10287000" cy="2487168"/>
          </a:xfrm>
          <a:prstGeom prst="rect">
            <a:avLst/>
          </a:prstGeom>
        </p:spPr>
      </p:pic>
      <p:sp>
        <p:nvSpPr>
          <p:cNvPr id="8" name="Text 4"/>
          <p:cNvSpPr/>
          <p:nvPr>
            <p:custDataLst>
              <p:tags r:id="rId4"/>
            </p:custDataLst>
          </p:nvPr>
        </p:nvSpPr>
        <p:spPr>
          <a:xfrm>
            <a:off x="906780" y="6035802"/>
            <a:ext cx="10287000" cy="164592"/>
          </a:xfrm>
          <a:prstGeom prst="rect">
            <a:avLst/>
          </a:prstGeom>
          <a:noFill/>
        </p:spPr>
        <p:txBody>
          <a:bodyPr wrap="square" lIns="0" tIns="0" rIns="0" bIns="0" rtlCol="0" anchor="t">
            <a:normAutofit/>
          </a:bodyPr>
          <a:lstStyle/>
          <a:p>
            <a:pPr marL="0" indent="0" algn="ctr">
              <a:buNone/>
            </a:pPr>
            <a:r>
              <a:rPr lang="en-US" sz="920" i="1" dirty="0">
                <a:solidFill>
                  <a:srgbClr val="7F7F7F"/>
                </a:solidFill>
                <a:latin typeface="Arial" panose="020B0604020202020204" pitchFamily="34" charset="0"/>
                <a:ea typeface="Arial" panose="020B0604020202020204" pitchFamily="34" charset="-122"/>
                <a:cs typeface="Arial" panose="020B0604020202020204" pitchFamily="34" charset="-120"/>
              </a:rPr>
              <a:t>Figure 9. Precision-recall and ROC curves on the held-out test set.</a:t>
            </a:r>
            <a:endParaRPr lang="en-US" sz="920" dirty="0"/>
          </a:p>
        </p:txBody>
      </p:sp>
      <p:pic>
        <p:nvPicPr>
          <p:cNvPr id="1243" name="淘宝搜索吉优演示17"/>
          <p:cNvPicPr>
            <a:picLocks noChangeAspect="1"/>
          </p:cNvPicPr>
          <p:nvPr/>
        </p:nvPicPr>
        <p:blipFill>
          <a:blip r:embed="rId10" cstate="print">
            <a:lum bright="6000" contrast="6000"/>
            <a:extLst>
              <a:ext uri="{BEBA8EAE-BF5A-486C-A8C5-ECC9F3942E4B}">
                <a14:imgProps xmlns:a14="http://schemas.microsoft.com/office/drawing/2010/main">
                  <a14:imgLayer r:embed="rId11">
                    <a14:imgEffect>
                      <a14:brightnessContrast bright="10000"/>
                    </a14:imgEffect>
                  </a14:imgLayer>
                </a14:imgProps>
              </a:ext>
              <a:ext uri="{28A0092B-C50C-407E-A947-70E740481C1C}">
                <a14:useLocalDpi xmlns:a14="http://schemas.microsoft.com/office/drawing/2010/main" val="0"/>
              </a:ext>
            </a:extLst>
          </a:blip>
          <a:stretch>
            <a:fillRect/>
          </a:stretch>
        </p:blipFill>
        <p:spPr>
          <a:xfrm flipH="1">
            <a:off x="226060" y="1069340"/>
            <a:ext cx="472440" cy="472440"/>
          </a:xfrm>
          <a:prstGeom prst="rect">
            <a:avLst/>
          </a:prstGeom>
        </p:spPr>
      </p:pic>
      <p:sp>
        <p:nvSpPr>
          <p:cNvPr id="4" name="文本框 3"/>
          <p:cNvSpPr txBox="1"/>
          <p:nvPr>
            <p:custDataLst>
              <p:tags r:id="rId5"/>
            </p:custDataLst>
          </p:nvPr>
        </p:nvSpPr>
        <p:spPr>
          <a:xfrm>
            <a:off x="1487170" y="3237865"/>
            <a:ext cx="9217025" cy="368300"/>
          </a:xfrm>
          <a:prstGeom prst="rect">
            <a:avLst/>
          </a:prstGeom>
          <a:noFill/>
        </p:spPr>
        <p:txBody>
          <a:bodyPr wrap="square" rtlCol="0">
            <a:spAutoFit/>
          </a:bodyPr>
          <a:lstStyle/>
          <a:p>
            <a:r>
              <a:rPr lang="en-US" altLang="zh-CN">
                <a:cs typeface="+mn-lt"/>
              </a:rPr>
              <a:t>Recommended model: </a:t>
            </a:r>
            <a:r>
              <a:rPr lang="en-US" altLang="zh-CN" b="1">
                <a:cs typeface="+mn-lt"/>
              </a:rPr>
              <a:t>Weighted XGBoost</a:t>
            </a:r>
            <a:r>
              <a:rPr lang="en-US" altLang="zh-CN">
                <a:cs typeface="+mn-lt"/>
              </a:rPr>
              <a:t> — highest F1, ROC-AUC, and PR-AUC</a:t>
            </a:r>
          </a:p>
        </p:txBody>
      </p:sp>
      <p:sp>
        <p:nvSpPr>
          <p:cNvPr id="11" name="文本框 10"/>
          <p:cNvSpPr txBox="1"/>
          <p:nvPr>
            <p:custDataLst>
              <p:tags r:id="rId6"/>
            </p:custDataLst>
          </p:nvPr>
        </p:nvSpPr>
        <p:spPr>
          <a:xfrm>
            <a:off x="1062355" y="6200140"/>
            <a:ext cx="10288905" cy="368300"/>
          </a:xfrm>
          <a:prstGeom prst="rect">
            <a:avLst/>
          </a:prstGeom>
          <a:noFill/>
        </p:spPr>
        <p:txBody>
          <a:bodyPr wrap="square" rtlCol="0">
            <a:spAutoFit/>
          </a:bodyPr>
          <a:lstStyle/>
          <a:p>
            <a:pPr algn="ctr"/>
            <a:r>
              <a:rPr lang="en-US" altLang="zh-CN" b="1"/>
              <a:t>XGBoost and Random Forest</a:t>
            </a:r>
            <a:r>
              <a:rPr lang="en-US" altLang="zh-CN"/>
              <a:t> lead across thresholds.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43"/>
                                        </p:tgtEl>
                                        <p:attrNameLst>
                                          <p:attrName>style.visibility</p:attrName>
                                        </p:attrNameLst>
                                      </p:cBhvr>
                                      <p:to>
                                        <p:strVal val="visible"/>
                                      </p:to>
                                    </p:set>
                                    <p:animEffect transition="in" filter="fade">
                                      <p:cBhvr>
                                        <p:cTn id="7" dur="1000"/>
                                        <p:tgtEl>
                                          <p:spTgt spid="1243"/>
                                        </p:tgtEl>
                                      </p:cBhvr>
                                    </p:animEffect>
                                    <p:anim calcmode="lin" valueType="num">
                                      <p:cBhvr>
                                        <p:cTn id="8" dur="1000" fill="hold"/>
                                        <p:tgtEl>
                                          <p:spTgt spid="1243"/>
                                        </p:tgtEl>
                                        <p:attrNameLst>
                                          <p:attrName>ppt_x</p:attrName>
                                        </p:attrNameLst>
                                      </p:cBhvr>
                                      <p:tavLst>
                                        <p:tav tm="0">
                                          <p:val>
                                            <p:strVal val="#ppt_x"/>
                                          </p:val>
                                        </p:tav>
                                        <p:tav tm="100000">
                                          <p:val>
                                            <p:strVal val="#ppt_x"/>
                                          </p:val>
                                        </p:tav>
                                      </p:tavLst>
                                    </p:anim>
                                    <p:anim calcmode="lin" valueType="num">
                                      <p:cBhvr>
                                        <p:cTn id="9" dur="1000" fill="hold"/>
                                        <p:tgtEl>
                                          <p:spTgt spid="12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19710"/>
            <a:ext cx="11186160" cy="494030"/>
          </a:xfrm>
          <a:prstGeom prst="rect">
            <a:avLst/>
          </a:prstGeom>
          <a:noFill/>
        </p:spPr>
        <p:txBody>
          <a:bodyPr wrap="square" lIns="0" tIns="0" rIns="0" bIns="0" rtlCol="0" anchor="t">
            <a:normAutofit fontScale="97500"/>
          </a:bodyPr>
          <a:lstStyle/>
          <a:p>
            <a:pPr marL="0" indent="0" algn="l">
              <a:buNone/>
            </a:pPr>
            <a:r>
              <a:rPr lang="en-US" sz="3000" b="1" dirty="0">
                <a:solidFill>
                  <a:srgbClr val="1F4E79"/>
                </a:solidFill>
                <a:latin typeface="Arial" panose="020B0604020202020204" pitchFamily="34" charset="0"/>
                <a:ea typeface="Arial" panose="020B0604020202020204" pitchFamily="34" charset="-122"/>
                <a:cs typeface="Arial" panose="020B0604020202020204" pitchFamily="34" charset="-120"/>
              </a:rPr>
              <a:t>What Drives Predictions—— </a:t>
            </a:r>
            <a:r>
              <a:rPr lang="en-US" altLang="zh-CN" sz="1780" dirty="0">
                <a:solidFill>
                  <a:schemeClr val="accent1">
                    <a:lumMod val="50000"/>
                  </a:schemeClr>
                </a:solidFill>
              </a:rPr>
              <a:t>Main drivers: macroeconomic context and campaign history</a:t>
            </a:r>
          </a:p>
        </p:txBody>
      </p:sp>
      <p:sp>
        <p:nvSpPr>
          <p:cNvPr id="3" name="Shape 1"/>
          <p:cNvSpPr/>
          <p:nvPr/>
        </p:nvSpPr>
        <p:spPr>
          <a:xfrm>
            <a:off x="502920" y="713232"/>
            <a:ext cx="1188720" cy="0"/>
          </a:xfrm>
          <a:prstGeom prst="line">
            <a:avLst/>
          </a:prstGeom>
          <a:noFill/>
          <a:ln w="27940">
            <a:solidFill>
              <a:srgbClr val="ED7D31"/>
            </a:solidFill>
            <a:prstDash val="solid"/>
          </a:ln>
        </p:spPr>
      </p:sp>
      <p:sp>
        <p:nvSpPr>
          <p:cNvPr id="4" name="Text 2"/>
          <p:cNvSpPr/>
          <p:nvPr/>
        </p:nvSpPr>
        <p:spPr>
          <a:xfrm>
            <a:off x="640080" y="868680"/>
            <a:ext cx="4937760" cy="201168"/>
          </a:xfrm>
          <a:prstGeom prst="rect">
            <a:avLst/>
          </a:prstGeom>
          <a:noFill/>
        </p:spPr>
        <p:txBody>
          <a:bodyPr wrap="square" lIns="0" tIns="0" rIns="0" bIns="0" rtlCol="0" anchor="t">
            <a:normAutofit/>
          </a:bodyPr>
          <a:lstStyle/>
          <a:p>
            <a:pPr marL="0" indent="0" algn="ctr">
              <a:buNone/>
            </a:pPr>
            <a:r>
              <a:rPr lang="en-US" sz="1260" b="1" dirty="0">
                <a:solidFill>
                  <a:srgbClr val="1F2937"/>
                </a:solidFill>
                <a:latin typeface="Arial" panose="020B0604020202020204" pitchFamily="34" charset="0"/>
                <a:ea typeface="Arial" panose="020B0604020202020204" pitchFamily="34" charset="-122"/>
                <a:cs typeface="Arial" panose="020B0604020202020204" pitchFamily="34" charset="-120"/>
              </a:rPr>
              <a:t>Confusion matrix: threshold 0.65</a:t>
            </a:r>
            <a:endParaRPr lang="en-US" sz="1260" dirty="0"/>
          </a:p>
        </p:txBody>
      </p:sp>
      <p:sp>
        <p:nvSpPr>
          <p:cNvPr id="5" name="Text 3"/>
          <p:cNvSpPr/>
          <p:nvPr/>
        </p:nvSpPr>
        <p:spPr>
          <a:xfrm>
            <a:off x="6355080" y="868680"/>
            <a:ext cx="5074920" cy="201168"/>
          </a:xfrm>
          <a:prstGeom prst="rect">
            <a:avLst/>
          </a:prstGeom>
          <a:noFill/>
        </p:spPr>
        <p:txBody>
          <a:bodyPr wrap="square" lIns="0" tIns="0" rIns="0" bIns="0" rtlCol="0" anchor="t">
            <a:normAutofit/>
          </a:bodyPr>
          <a:lstStyle/>
          <a:p>
            <a:pPr marL="0" indent="0" algn="ctr">
              <a:buNone/>
            </a:pPr>
            <a:r>
              <a:rPr lang="en-US" sz="1260" b="1" dirty="0">
                <a:solidFill>
                  <a:srgbClr val="1F2937"/>
                </a:solidFill>
                <a:latin typeface="Arial" panose="020B0604020202020204" pitchFamily="34" charset="0"/>
                <a:ea typeface="Arial" panose="020B0604020202020204" pitchFamily="34" charset="-122"/>
                <a:cs typeface="Arial" panose="020B0604020202020204" pitchFamily="34" charset="-120"/>
              </a:rPr>
              <a:t>XGBoost gain-based importance</a:t>
            </a:r>
            <a:endParaRPr lang="en-US" sz="1260" dirty="0"/>
          </a:p>
        </p:txBody>
      </p:sp>
      <p:pic>
        <p:nvPicPr>
          <p:cNvPr id="6" name="Image 0" descr="C:\Users\15759\Documents\New project\bank_marketing_ppt\derived_assets\figure8_confusion_matrix.png"/>
          <p:cNvPicPr>
            <a:picLocks noChangeAspect="1"/>
          </p:cNvPicPr>
          <p:nvPr/>
        </p:nvPicPr>
        <p:blipFill>
          <a:blip r:embed="rId3"/>
          <a:srcRect/>
          <a:stretch>
            <a:fillRect/>
          </a:stretch>
        </p:blipFill>
        <p:spPr>
          <a:xfrm>
            <a:off x="594360" y="1124712"/>
            <a:ext cx="5074920" cy="2944368"/>
          </a:xfrm>
          <a:prstGeom prst="rect">
            <a:avLst/>
          </a:prstGeom>
        </p:spPr>
      </p:pic>
      <p:sp>
        <p:nvSpPr>
          <p:cNvPr id="7" name="Shape 4"/>
          <p:cNvSpPr/>
          <p:nvPr/>
        </p:nvSpPr>
        <p:spPr>
          <a:xfrm>
            <a:off x="594360" y="1124712"/>
            <a:ext cx="5074920" cy="2944368"/>
          </a:xfrm>
          <a:prstGeom prst="rect">
            <a:avLst/>
          </a:prstGeom>
          <a:solidFill>
            <a:srgbClr val="FFFFFF">
              <a:alpha val="0"/>
            </a:srgbClr>
          </a:solidFill>
          <a:ln w="8255">
            <a:solidFill>
              <a:srgbClr val="D9D9D9"/>
            </a:solidFill>
            <a:prstDash val="solid"/>
          </a:ln>
        </p:spPr>
      </p:sp>
      <p:sp>
        <p:nvSpPr>
          <p:cNvPr id="8" name="Text 5"/>
          <p:cNvSpPr/>
          <p:nvPr/>
        </p:nvSpPr>
        <p:spPr>
          <a:xfrm>
            <a:off x="594360" y="4123944"/>
            <a:ext cx="5074920" cy="164592"/>
          </a:xfrm>
          <a:prstGeom prst="rect">
            <a:avLst/>
          </a:prstGeom>
          <a:noFill/>
        </p:spPr>
        <p:txBody>
          <a:bodyPr wrap="square" lIns="0" tIns="0" rIns="0" bIns="0" rtlCol="0" anchor="t">
            <a:normAutofit/>
          </a:bodyPr>
          <a:lstStyle/>
          <a:p>
            <a:pPr marL="0" indent="0" algn="ctr">
              <a:buNone/>
            </a:pPr>
            <a:r>
              <a:rPr lang="en-US" sz="920" i="1" dirty="0">
                <a:solidFill>
                  <a:srgbClr val="7F7F7F"/>
                </a:solidFill>
                <a:latin typeface="Arial" panose="020B0604020202020204" pitchFamily="34" charset="0"/>
                <a:ea typeface="Arial" panose="020B0604020202020204" pitchFamily="34" charset="-122"/>
                <a:cs typeface="Arial" panose="020B0604020202020204" pitchFamily="34" charset="-120"/>
              </a:rPr>
              <a:t>Figure 8a. XGBoost confusion matrix.</a:t>
            </a:r>
            <a:endParaRPr lang="en-US" sz="920" dirty="0"/>
          </a:p>
        </p:txBody>
      </p:sp>
      <p:pic>
        <p:nvPicPr>
          <p:cNvPr id="9" name="Image 1" descr="C:\Users\15759\Documents\New project\bank_marketing_ppt\derived_assets\figure8_feature_importance.png"/>
          <p:cNvPicPr>
            <a:picLocks noChangeAspect="1"/>
          </p:cNvPicPr>
          <p:nvPr/>
        </p:nvPicPr>
        <p:blipFill>
          <a:blip r:embed="rId4"/>
          <a:srcRect/>
          <a:stretch>
            <a:fillRect/>
          </a:stretch>
        </p:blipFill>
        <p:spPr>
          <a:xfrm>
            <a:off x="6263640" y="1124712"/>
            <a:ext cx="5349240" cy="2944368"/>
          </a:xfrm>
          <a:prstGeom prst="rect">
            <a:avLst/>
          </a:prstGeom>
        </p:spPr>
      </p:pic>
      <p:sp>
        <p:nvSpPr>
          <p:cNvPr id="10" name="Shape 6"/>
          <p:cNvSpPr/>
          <p:nvPr/>
        </p:nvSpPr>
        <p:spPr>
          <a:xfrm>
            <a:off x="6263640" y="1124712"/>
            <a:ext cx="5349240" cy="2944368"/>
          </a:xfrm>
          <a:prstGeom prst="rect">
            <a:avLst/>
          </a:prstGeom>
          <a:solidFill>
            <a:srgbClr val="FFFFFF">
              <a:alpha val="0"/>
            </a:srgbClr>
          </a:solidFill>
          <a:ln w="8255">
            <a:solidFill>
              <a:srgbClr val="D9D9D9"/>
            </a:solidFill>
            <a:prstDash val="solid"/>
          </a:ln>
        </p:spPr>
      </p:sp>
      <p:sp>
        <p:nvSpPr>
          <p:cNvPr id="11" name="Text 7"/>
          <p:cNvSpPr/>
          <p:nvPr/>
        </p:nvSpPr>
        <p:spPr>
          <a:xfrm>
            <a:off x="6263640" y="4123944"/>
            <a:ext cx="5349240" cy="164592"/>
          </a:xfrm>
          <a:prstGeom prst="rect">
            <a:avLst/>
          </a:prstGeom>
          <a:noFill/>
        </p:spPr>
        <p:txBody>
          <a:bodyPr wrap="square" lIns="0" tIns="0" rIns="0" bIns="0" rtlCol="0" anchor="t">
            <a:normAutofit/>
          </a:bodyPr>
          <a:lstStyle/>
          <a:p>
            <a:pPr marL="0" indent="0" algn="ctr">
              <a:buNone/>
            </a:pPr>
            <a:r>
              <a:rPr lang="en-US" sz="920" i="1" dirty="0">
                <a:solidFill>
                  <a:srgbClr val="7F7F7F"/>
                </a:solidFill>
                <a:latin typeface="Arial" panose="020B0604020202020204" pitchFamily="34" charset="0"/>
                <a:ea typeface="Arial" panose="020B0604020202020204" pitchFamily="34" charset="-122"/>
                <a:cs typeface="Arial" panose="020B0604020202020204" pitchFamily="34" charset="-120"/>
              </a:rPr>
              <a:t>Figure 8b. Gain-based feature importance.</a:t>
            </a:r>
            <a:endParaRPr lang="en-US" sz="920" dirty="0"/>
          </a:p>
        </p:txBody>
      </p:sp>
      <p:sp>
        <p:nvSpPr>
          <p:cNvPr id="12" name="Shape 8"/>
          <p:cNvSpPr/>
          <p:nvPr/>
        </p:nvSpPr>
        <p:spPr>
          <a:xfrm>
            <a:off x="1616710" y="5236845"/>
            <a:ext cx="64008" cy="64008"/>
          </a:xfrm>
          <a:prstGeom prst="ellipse">
            <a:avLst/>
          </a:prstGeom>
          <a:solidFill>
            <a:srgbClr val="ED7D31"/>
          </a:solidFill>
          <a:ln w="12700">
            <a:solidFill>
              <a:srgbClr val="ED7D31">
                <a:alpha val="0"/>
              </a:srgbClr>
            </a:solidFill>
            <a:prstDash val="solid"/>
          </a:ln>
        </p:spPr>
      </p:sp>
      <p:sp>
        <p:nvSpPr>
          <p:cNvPr id="13" name="Text 9"/>
          <p:cNvSpPr/>
          <p:nvPr/>
        </p:nvSpPr>
        <p:spPr>
          <a:xfrm>
            <a:off x="1834515" y="5165090"/>
            <a:ext cx="8721090" cy="219710"/>
          </a:xfrm>
          <a:prstGeom prst="rect">
            <a:avLst/>
          </a:prstGeom>
          <a:noFill/>
        </p:spPr>
        <p:txBody>
          <a:bodyPr wrap="square" lIns="0" tIns="0" rIns="0" bIns="0" rtlCol="0" anchor="t">
            <a:noAutofit/>
          </a:bodyPr>
          <a:lstStyle/>
          <a:p>
            <a:pPr marL="0" indent="0" algn="l">
              <a:buNone/>
            </a:pPr>
            <a:r>
              <a:rPr lang="en-US" altLang="zh-CN" sz="1700" dirty="0"/>
              <a:t>Macro conditions dominate: employment, interest-rate, and confidence indicators</a:t>
            </a:r>
          </a:p>
        </p:txBody>
      </p:sp>
      <p:sp>
        <p:nvSpPr>
          <p:cNvPr id="14" name="Shape 10"/>
          <p:cNvSpPr/>
          <p:nvPr/>
        </p:nvSpPr>
        <p:spPr>
          <a:xfrm>
            <a:off x="1627505" y="5675249"/>
            <a:ext cx="64008" cy="64008"/>
          </a:xfrm>
          <a:prstGeom prst="ellipse">
            <a:avLst/>
          </a:prstGeom>
          <a:solidFill>
            <a:srgbClr val="ED7D31"/>
          </a:solidFill>
          <a:ln w="12700">
            <a:solidFill>
              <a:srgbClr val="ED7D31">
                <a:alpha val="0"/>
              </a:srgbClr>
            </a:solidFill>
            <a:prstDash val="solid"/>
          </a:ln>
        </p:spPr>
      </p:sp>
      <p:sp>
        <p:nvSpPr>
          <p:cNvPr id="15" name="Text 11"/>
          <p:cNvSpPr/>
          <p:nvPr/>
        </p:nvSpPr>
        <p:spPr>
          <a:xfrm>
            <a:off x="1834515" y="5596890"/>
            <a:ext cx="9373870" cy="219710"/>
          </a:xfrm>
          <a:prstGeom prst="rect">
            <a:avLst/>
          </a:prstGeom>
          <a:noFill/>
        </p:spPr>
        <p:txBody>
          <a:bodyPr wrap="square" lIns="0" tIns="0" rIns="0" bIns="0" rtlCol="0" anchor="t">
            <a:noAutofit/>
          </a:bodyPr>
          <a:lstStyle/>
          <a:p>
            <a:pPr marL="0" indent="0" algn="l">
              <a:buNone/>
            </a:pPr>
            <a:r>
              <a:rPr lang="en-US" altLang="zh-CN" dirty="0"/>
              <a:t>Marketing history matters: prior success, contact month, contact channel, campaign count</a:t>
            </a:r>
          </a:p>
        </p:txBody>
      </p:sp>
      <p:sp>
        <p:nvSpPr>
          <p:cNvPr id="17" name="Text 13"/>
          <p:cNvSpPr/>
          <p:nvPr/>
        </p:nvSpPr>
        <p:spPr>
          <a:xfrm>
            <a:off x="1834515" y="6028690"/>
            <a:ext cx="9355455" cy="235585"/>
          </a:xfrm>
          <a:prstGeom prst="rect">
            <a:avLst/>
          </a:prstGeom>
          <a:noFill/>
        </p:spPr>
        <p:txBody>
          <a:bodyPr wrap="square" lIns="0" tIns="0" rIns="0" bIns="0" rtlCol="0" anchor="t">
            <a:noAutofit/>
          </a:bodyPr>
          <a:lstStyle/>
          <a:p>
            <a:pPr marL="0" indent="0" algn="l">
              <a:buNone/>
            </a:pPr>
            <a:r>
              <a:rPr lang="en-US" altLang="zh-CN" dirty="0"/>
              <a:t>Business trade-off: 554 subscribers recovered, with 634 extra false-positive calls</a:t>
            </a:r>
          </a:p>
        </p:txBody>
      </p:sp>
      <p:sp>
        <p:nvSpPr>
          <p:cNvPr id="21" name="Shape 10"/>
          <p:cNvSpPr/>
          <p:nvPr/>
        </p:nvSpPr>
        <p:spPr>
          <a:xfrm>
            <a:off x="1627505" y="6113399"/>
            <a:ext cx="64008" cy="64008"/>
          </a:xfrm>
          <a:prstGeom prst="ellipse">
            <a:avLst/>
          </a:prstGeom>
          <a:solidFill>
            <a:srgbClr val="ED7D31"/>
          </a:solidFill>
          <a:ln w="12700">
            <a:solidFill>
              <a:srgbClr val="ED7D31">
                <a:alpha val="0"/>
              </a:srgbClr>
            </a:solidFill>
            <a:prstDash val="solid"/>
          </a:ln>
        </p:spPr>
      </p:sp>
      <p:sp>
        <p:nvSpPr>
          <p:cNvPr id="22" name="文本框 21"/>
          <p:cNvSpPr txBox="1"/>
          <p:nvPr/>
        </p:nvSpPr>
        <p:spPr>
          <a:xfrm>
            <a:off x="594360" y="4447540"/>
            <a:ext cx="5290820" cy="368300"/>
          </a:xfrm>
          <a:prstGeom prst="rect">
            <a:avLst/>
          </a:prstGeom>
          <a:noFill/>
        </p:spPr>
        <p:txBody>
          <a:bodyPr wrap="square" rtlCol="0">
            <a:spAutoFit/>
          </a:bodyPr>
          <a:lstStyle/>
          <a:p>
            <a:r>
              <a:rPr lang="en-US" altLang="zh-CN"/>
              <a:t>XGBoost recovered 554 of 928 actual subscribers</a:t>
            </a:r>
          </a:p>
        </p:txBody>
      </p:sp>
      <p:sp>
        <p:nvSpPr>
          <p:cNvPr id="23" name="Shape 8"/>
          <p:cNvSpPr/>
          <p:nvPr/>
        </p:nvSpPr>
        <p:spPr>
          <a:xfrm>
            <a:off x="502920" y="4590415"/>
            <a:ext cx="64008" cy="64008"/>
          </a:xfrm>
          <a:prstGeom prst="ellipse">
            <a:avLst/>
          </a:prstGeom>
          <a:solidFill>
            <a:srgbClr val="0070C0"/>
          </a:solidFill>
          <a:ln w="12700">
            <a:solidFill>
              <a:srgbClr val="ED7D31">
                <a:alpha val="0"/>
              </a:srgbClr>
            </a:solidFill>
            <a:prstDash val="solid"/>
          </a:ln>
        </p:spPr>
      </p:sp>
      <p:sp>
        <p:nvSpPr>
          <p:cNvPr id="24" name="Shape 10"/>
          <p:cNvSpPr/>
          <p:nvPr/>
        </p:nvSpPr>
        <p:spPr>
          <a:xfrm>
            <a:off x="6226810" y="4584954"/>
            <a:ext cx="64008" cy="64008"/>
          </a:xfrm>
          <a:prstGeom prst="ellipse">
            <a:avLst/>
          </a:prstGeom>
          <a:solidFill>
            <a:srgbClr val="0070C0"/>
          </a:solidFill>
          <a:ln w="12700">
            <a:solidFill>
              <a:srgbClr val="ED7D31">
                <a:alpha val="0"/>
              </a:srgbClr>
            </a:solidFill>
            <a:prstDash val="solid"/>
          </a:ln>
        </p:spPr>
      </p:sp>
      <p:sp>
        <p:nvSpPr>
          <p:cNvPr id="25" name="文本框 24"/>
          <p:cNvSpPr txBox="1"/>
          <p:nvPr/>
        </p:nvSpPr>
        <p:spPr>
          <a:xfrm>
            <a:off x="6290945" y="4417695"/>
            <a:ext cx="6388100" cy="398780"/>
          </a:xfrm>
          <a:prstGeom prst="rect">
            <a:avLst/>
          </a:prstGeom>
          <a:noFill/>
        </p:spPr>
        <p:txBody>
          <a:bodyPr wrap="square" rtlCol="0">
            <a:noAutofit/>
          </a:bodyPr>
          <a:lstStyle/>
          <a:p>
            <a:r>
              <a:rPr lang="en-US" altLang="zh-CN"/>
              <a:t>Graph shows predictive contribution, not causal direction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19456"/>
            <a:ext cx="8138160" cy="384048"/>
          </a:xfrm>
          <a:prstGeom prst="rect">
            <a:avLst/>
          </a:prstGeom>
          <a:noFill/>
        </p:spPr>
        <p:txBody>
          <a:bodyPr wrap="square" lIns="0" tIns="0" rIns="0" bIns="0" rtlCol="0" anchor="t">
            <a:normAutofit fontScale="92500" lnSpcReduction="10000"/>
          </a:bodyPr>
          <a:lstStyle/>
          <a:p>
            <a:pPr marL="0" indent="0" algn="l">
              <a:buNone/>
            </a:pPr>
            <a:r>
              <a:rPr lang="en-US" sz="3000" b="1" dirty="0">
                <a:solidFill>
                  <a:srgbClr val="1F4E79"/>
                </a:solidFill>
                <a:latin typeface="Arial" panose="020B0604020202020204" pitchFamily="34" charset="0"/>
                <a:ea typeface="Arial" panose="020B0604020202020204" pitchFamily="34" charset="-122"/>
                <a:cs typeface="Arial" panose="020B0604020202020204" pitchFamily="34" charset="-120"/>
              </a:rPr>
              <a:t>Recommendation &amp; Future Work</a:t>
            </a:r>
            <a:endParaRPr lang="en-US" sz="3000" dirty="0"/>
          </a:p>
        </p:txBody>
      </p:sp>
      <p:sp>
        <p:nvSpPr>
          <p:cNvPr id="3" name="Shape 1"/>
          <p:cNvSpPr/>
          <p:nvPr/>
        </p:nvSpPr>
        <p:spPr>
          <a:xfrm>
            <a:off x="502920" y="713232"/>
            <a:ext cx="1188720" cy="0"/>
          </a:xfrm>
          <a:prstGeom prst="line">
            <a:avLst/>
          </a:prstGeom>
          <a:noFill/>
          <a:ln w="27940">
            <a:solidFill>
              <a:srgbClr val="ED7D31"/>
            </a:solidFill>
            <a:prstDash val="solid"/>
          </a:ln>
        </p:spPr>
      </p:sp>
      <p:sp>
        <p:nvSpPr>
          <p:cNvPr id="4" name="Text 2"/>
          <p:cNvSpPr/>
          <p:nvPr/>
        </p:nvSpPr>
        <p:spPr>
          <a:xfrm>
            <a:off x="822960" y="1234440"/>
            <a:ext cx="4114800" cy="292608"/>
          </a:xfrm>
          <a:prstGeom prst="rect">
            <a:avLst/>
          </a:prstGeom>
          <a:noFill/>
        </p:spPr>
        <p:txBody>
          <a:bodyPr wrap="square" lIns="0" tIns="0" rIns="0" bIns="0" rtlCol="0" anchor="t">
            <a:normAutofit/>
          </a:bodyPr>
          <a:lstStyle/>
          <a:p>
            <a:pPr marL="0" indent="0" algn="l">
              <a:buNone/>
            </a:pPr>
            <a:r>
              <a:rPr lang="en-US" sz="1900" b="1" dirty="0">
                <a:solidFill>
                  <a:srgbClr val="1F4E79"/>
                </a:solidFill>
                <a:latin typeface="Arial" panose="020B0604020202020204" pitchFamily="34" charset="0"/>
                <a:ea typeface="Arial" panose="020B0604020202020204" pitchFamily="34" charset="-122"/>
                <a:cs typeface="Arial" panose="020B0604020202020204" pitchFamily="34" charset="-120"/>
              </a:rPr>
              <a:t>Recommendation</a:t>
            </a:r>
            <a:endParaRPr lang="en-US" sz="1900" dirty="0"/>
          </a:p>
        </p:txBody>
      </p:sp>
      <p:sp>
        <p:nvSpPr>
          <p:cNvPr id="5" name="Shape 3"/>
          <p:cNvSpPr/>
          <p:nvPr/>
        </p:nvSpPr>
        <p:spPr>
          <a:xfrm>
            <a:off x="822960" y="1664208"/>
            <a:ext cx="4343400" cy="0"/>
          </a:xfrm>
          <a:prstGeom prst="line">
            <a:avLst/>
          </a:prstGeom>
          <a:noFill/>
          <a:ln w="20320">
            <a:solidFill>
              <a:srgbClr val="ED7D31"/>
            </a:solidFill>
            <a:prstDash val="solid"/>
          </a:ln>
        </p:spPr>
      </p:sp>
      <p:sp>
        <p:nvSpPr>
          <p:cNvPr id="6" name="Shape 4"/>
          <p:cNvSpPr/>
          <p:nvPr>
            <p:custDataLst>
              <p:tags r:id="rId1"/>
            </p:custDataLst>
          </p:nvPr>
        </p:nvSpPr>
        <p:spPr>
          <a:xfrm>
            <a:off x="868553" y="2075688"/>
            <a:ext cx="64008" cy="64008"/>
          </a:xfrm>
          <a:prstGeom prst="ellipse">
            <a:avLst/>
          </a:prstGeom>
          <a:solidFill>
            <a:srgbClr val="ED7D31"/>
          </a:solidFill>
          <a:ln w="12700">
            <a:solidFill>
              <a:srgbClr val="ED7D31">
                <a:alpha val="0"/>
              </a:srgbClr>
            </a:solidFill>
            <a:prstDash val="solid"/>
          </a:ln>
        </p:spPr>
      </p:sp>
      <p:sp>
        <p:nvSpPr>
          <p:cNvPr id="7" name="Text 5"/>
          <p:cNvSpPr/>
          <p:nvPr>
            <p:custDataLst>
              <p:tags r:id="rId2"/>
            </p:custDataLst>
          </p:nvPr>
        </p:nvSpPr>
        <p:spPr>
          <a:xfrm>
            <a:off x="1078865" y="2011680"/>
            <a:ext cx="4333875" cy="449580"/>
          </a:xfrm>
          <a:prstGeom prst="rect">
            <a:avLst/>
          </a:prstGeom>
          <a:noFill/>
        </p:spPr>
        <p:txBody>
          <a:bodyPr wrap="square" lIns="0" tIns="0" rIns="0" bIns="0" rtlCol="0" anchor="t">
            <a:noAutofit/>
          </a:bodyPr>
          <a:lstStyle/>
          <a:p>
            <a:pPr marL="0" indent="0" algn="l">
              <a:buNone/>
            </a:pPr>
            <a:r>
              <a:rPr lang="en-US" altLang="zh-CN" sz="1700" dirty="0"/>
              <a:t>Deploy: Weighted XGBoost for balanced subscriber targeting</a:t>
            </a:r>
          </a:p>
        </p:txBody>
      </p:sp>
      <p:sp>
        <p:nvSpPr>
          <p:cNvPr id="8" name="Shape 6"/>
          <p:cNvSpPr/>
          <p:nvPr>
            <p:custDataLst>
              <p:tags r:id="rId3"/>
            </p:custDataLst>
          </p:nvPr>
        </p:nvSpPr>
        <p:spPr>
          <a:xfrm>
            <a:off x="868553" y="2725293"/>
            <a:ext cx="64008" cy="64008"/>
          </a:xfrm>
          <a:prstGeom prst="ellipse">
            <a:avLst/>
          </a:prstGeom>
          <a:solidFill>
            <a:srgbClr val="ED7D31"/>
          </a:solidFill>
          <a:ln w="12700">
            <a:solidFill>
              <a:srgbClr val="ED7D31">
                <a:alpha val="0"/>
              </a:srgbClr>
            </a:solidFill>
            <a:prstDash val="solid"/>
          </a:ln>
        </p:spPr>
        <p:txBody>
          <a:bodyPr/>
          <a:lstStyle/>
          <a:p>
            <a:endParaRPr lang="zh-CN" altLang="en-US"/>
          </a:p>
        </p:txBody>
      </p:sp>
      <p:sp>
        <p:nvSpPr>
          <p:cNvPr id="9" name="Text 7"/>
          <p:cNvSpPr/>
          <p:nvPr>
            <p:custDataLst>
              <p:tags r:id="rId4"/>
            </p:custDataLst>
          </p:nvPr>
        </p:nvSpPr>
        <p:spPr>
          <a:xfrm>
            <a:off x="1078357" y="2647950"/>
            <a:ext cx="4334256" cy="219456"/>
          </a:xfrm>
          <a:prstGeom prst="rect">
            <a:avLst/>
          </a:prstGeom>
          <a:noFill/>
        </p:spPr>
        <p:txBody>
          <a:bodyPr wrap="square" lIns="0" tIns="0" rIns="0" bIns="0" rtlCol="0" anchor="t">
            <a:noAutofit/>
          </a:bodyPr>
          <a:lstStyle/>
          <a:p>
            <a:pPr marL="0" indent="0" algn="l">
              <a:buNone/>
            </a:pPr>
            <a:r>
              <a:rPr lang="en-US" altLang="zh-CN" sz="1700" dirty="0"/>
              <a:t>Alternative: Random Forest when reducing wasted calls is prioritized</a:t>
            </a:r>
          </a:p>
        </p:txBody>
      </p:sp>
      <p:sp>
        <p:nvSpPr>
          <p:cNvPr id="10" name="Shape 8"/>
          <p:cNvSpPr/>
          <p:nvPr>
            <p:custDataLst>
              <p:tags r:id="rId5"/>
            </p:custDataLst>
          </p:nvPr>
        </p:nvSpPr>
        <p:spPr>
          <a:xfrm>
            <a:off x="868553" y="3411728"/>
            <a:ext cx="64008" cy="64008"/>
          </a:xfrm>
          <a:prstGeom prst="ellipse">
            <a:avLst/>
          </a:prstGeom>
          <a:solidFill>
            <a:srgbClr val="ED7D31"/>
          </a:solidFill>
          <a:ln w="12700">
            <a:solidFill>
              <a:srgbClr val="ED7D31">
                <a:alpha val="0"/>
              </a:srgbClr>
            </a:solidFill>
            <a:prstDash val="solid"/>
          </a:ln>
        </p:spPr>
      </p:sp>
      <p:sp>
        <p:nvSpPr>
          <p:cNvPr id="11" name="Text 9"/>
          <p:cNvSpPr/>
          <p:nvPr>
            <p:custDataLst>
              <p:tags r:id="rId6"/>
            </p:custDataLst>
          </p:nvPr>
        </p:nvSpPr>
        <p:spPr>
          <a:xfrm>
            <a:off x="1078357" y="3328670"/>
            <a:ext cx="4334256" cy="219456"/>
          </a:xfrm>
          <a:prstGeom prst="rect">
            <a:avLst/>
          </a:prstGeom>
          <a:noFill/>
        </p:spPr>
        <p:txBody>
          <a:bodyPr wrap="square" lIns="0" tIns="0" rIns="0" bIns="0" rtlCol="0" anchor="t">
            <a:noAutofit/>
          </a:bodyPr>
          <a:lstStyle/>
          <a:p>
            <a:pPr marL="0" indent="0" algn="l">
              <a:buNone/>
            </a:pPr>
            <a:r>
              <a:rPr lang="en-US" altLang="zh-CN" sz="1700" dirty="0"/>
              <a:t>Explainability benchmark: Logistic / LASSO for interpretable comparisons</a:t>
            </a:r>
          </a:p>
        </p:txBody>
      </p:sp>
      <p:sp>
        <p:nvSpPr>
          <p:cNvPr id="12" name="Text 10"/>
          <p:cNvSpPr/>
          <p:nvPr/>
        </p:nvSpPr>
        <p:spPr>
          <a:xfrm>
            <a:off x="6400800" y="1234440"/>
            <a:ext cx="4114800" cy="292608"/>
          </a:xfrm>
          <a:prstGeom prst="rect">
            <a:avLst/>
          </a:prstGeom>
          <a:noFill/>
        </p:spPr>
        <p:txBody>
          <a:bodyPr wrap="square" lIns="0" tIns="0" rIns="0" bIns="0" rtlCol="0" anchor="t">
            <a:normAutofit/>
          </a:bodyPr>
          <a:lstStyle/>
          <a:p>
            <a:pPr marL="0" indent="0" algn="l">
              <a:buNone/>
            </a:pPr>
            <a:r>
              <a:rPr lang="en-US" sz="1900" b="1" dirty="0">
                <a:solidFill>
                  <a:srgbClr val="1F4E79"/>
                </a:solidFill>
                <a:latin typeface="Arial" panose="020B0604020202020204" pitchFamily="34" charset="0"/>
                <a:ea typeface="Arial" panose="020B0604020202020204" pitchFamily="34" charset="-122"/>
                <a:cs typeface="Arial" panose="020B0604020202020204" pitchFamily="34" charset="-120"/>
              </a:rPr>
              <a:t>Limitations</a:t>
            </a:r>
            <a:endParaRPr lang="en-US" sz="1900" dirty="0"/>
          </a:p>
        </p:txBody>
      </p:sp>
      <p:sp>
        <p:nvSpPr>
          <p:cNvPr id="13" name="Shape 11"/>
          <p:cNvSpPr/>
          <p:nvPr/>
        </p:nvSpPr>
        <p:spPr>
          <a:xfrm>
            <a:off x="6400800" y="1664208"/>
            <a:ext cx="4343400" cy="0"/>
          </a:xfrm>
          <a:prstGeom prst="line">
            <a:avLst/>
          </a:prstGeom>
          <a:noFill/>
          <a:ln w="20320">
            <a:solidFill>
              <a:srgbClr val="2E75B6"/>
            </a:solidFill>
            <a:prstDash val="solid"/>
          </a:ln>
        </p:spPr>
      </p:sp>
      <p:sp>
        <p:nvSpPr>
          <p:cNvPr id="14" name="Shape 12"/>
          <p:cNvSpPr/>
          <p:nvPr>
            <p:custDataLst>
              <p:tags r:id="rId7"/>
            </p:custDataLst>
          </p:nvPr>
        </p:nvSpPr>
        <p:spPr>
          <a:xfrm>
            <a:off x="6510528" y="2075688"/>
            <a:ext cx="64008" cy="64008"/>
          </a:xfrm>
          <a:prstGeom prst="ellipse">
            <a:avLst/>
          </a:prstGeom>
          <a:solidFill>
            <a:srgbClr val="2E75B6"/>
          </a:solidFill>
          <a:ln w="12700">
            <a:solidFill>
              <a:srgbClr val="2E75B6">
                <a:alpha val="0"/>
              </a:srgbClr>
            </a:solidFill>
            <a:prstDash val="solid"/>
          </a:ln>
        </p:spPr>
      </p:sp>
      <p:sp>
        <p:nvSpPr>
          <p:cNvPr id="15" name="Text 13"/>
          <p:cNvSpPr/>
          <p:nvPr>
            <p:custDataLst>
              <p:tags r:id="rId8"/>
            </p:custDataLst>
          </p:nvPr>
        </p:nvSpPr>
        <p:spPr>
          <a:xfrm>
            <a:off x="6656705" y="2011680"/>
            <a:ext cx="5079365" cy="434975"/>
          </a:xfrm>
          <a:prstGeom prst="rect">
            <a:avLst/>
          </a:prstGeom>
          <a:noFill/>
        </p:spPr>
        <p:txBody>
          <a:bodyPr wrap="square" lIns="0" tIns="0" rIns="0" bIns="0" rtlCol="0" anchor="t">
            <a:noAutofit/>
          </a:bodyPr>
          <a:lstStyle/>
          <a:p>
            <a:pPr marL="0" indent="0" algn="l">
              <a:buNone/>
            </a:pPr>
            <a:r>
              <a:rPr lang="en-US" altLang="zh-CN" dirty="0"/>
              <a:t>Replace random split with time-based validation</a:t>
            </a:r>
          </a:p>
        </p:txBody>
      </p:sp>
      <p:sp>
        <p:nvSpPr>
          <p:cNvPr id="16" name="Shape 14"/>
          <p:cNvSpPr/>
          <p:nvPr>
            <p:custDataLst>
              <p:tags r:id="rId9"/>
            </p:custDataLst>
          </p:nvPr>
        </p:nvSpPr>
        <p:spPr>
          <a:xfrm>
            <a:off x="6510528" y="2581275"/>
            <a:ext cx="64008" cy="64008"/>
          </a:xfrm>
          <a:prstGeom prst="ellipse">
            <a:avLst/>
          </a:prstGeom>
          <a:solidFill>
            <a:srgbClr val="2E75B6"/>
          </a:solidFill>
          <a:ln w="12700">
            <a:solidFill>
              <a:srgbClr val="2E75B6">
                <a:alpha val="0"/>
              </a:srgbClr>
            </a:solidFill>
            <a:prstDash val="solid"/>
          </a:ln>
        </p:spPr>
      </p:sp>
      <p:sp>
        <p:nvSpPr>
          <p:cNvPr id="17" name="Text 15"/>
          <p:cNvSpPr/>
          <p:nvPr>
            <p:custDataLst>
              <p:tags r:id="rId10"/>
            </p:custDataLst>
          </p:nvPr>
        </p:nvSpPr>
        <p:spPr>
          <a:xfrm>
            <a:off x="6656705" y="2450465"/>
            <a:ext cx="5023485" cy="502285"/>
          </a:xfrm>
          <a:prstGeom prst="rect">
            <a:avLst/>
          </a:prstGeom>
          <a:noFill/>
        </p:spPr>
        <p:txBody>
          <a:bodyPr wrap="square" lIns="0" tIns="0" rIns="0" bIns="0" rtlCol="0" anchor="t">
            <a:noAutofit/>
          </a:bodyPr>
          <a:lstStyle/>
          <a:p>
            <a:pPr marL="0" indent="0" algn="l">
              <a:buNone/>
            </a:pPr>
            <a:r>
              <a:rPr lang="en-US" altLang="zh-CN" sz="1700" dirty="0"/>
              <a:t>Replace F1-based threshold with business cost-benefit threshold</a:t>
            </a:r>
          </a:p>
        </p:txBody>
      </p:sp>
      <p:sp>
        <p:nvSpPr>
          <p:cNvPr id="18" name="Shape 16"/>
          <p:cNvSpPr/>
          <p:nvPr>
            <p:custDataLst>
              <p:tags r:id="rId11"/>
            </p:custDataLst>
          </p:nvPr>
        </p:nvSpPr>
        <p:spPr>
          <a:xfrm>
            <a:off x="6510528" y="3108452"/>
            <a:ext cx="64008" cy="64008"/>
          </a:xfrm>
          <a:prstGeom prst="ellipse">
            <a:avLst/>
          </a:prstGeom>
          <a:solidFill>
            <a:srgbClr val="2E75B6"/>
          </a:solidFill>
          <a:ln w="12700">
            <a:solidFill>
              <a:srgbClr val="2E75B6">
                <a:alpha val="0"/>
              </a:srgbClr>
            </a:solidFill>
            <a:prstDash val="solid"/>
          </a:ln>
        </p:spPr>
      </p:sp>
      <p:sp>
        <p:nvSpPr>
          <p:cNvPr id="19" name="Text 17"/>
          <p:cNvSpPr/>
          <p:nvPr>
            <p:custDataLst>
              <p:tags r:id="rId12"/>
            </p:custDataLst>
          </p:nvPr>
        </p:nvSpPr>
        <p:spPr>
          <a:xfrm>
            <a:off x="6656832" y="3031109"/>
            <a:ext cx="4517136" cy="219456"/>
          </a:xfrm>
          <a:prstGeom prst="rect">
            <a:avLst/>
          </a:prstGeom>
          <a:noFill/>
        </p:spPr>
        <p:txBody>
          <a:bodyPr wrap="square" lIns="0" tIns="0" rIns="0" bIns="0" rtlCol="0" anchor="t">
            <a:noAutofit/>
          </a:bodyPr>
          <a:lstStyle/>
          <a:p>
            <a:pPr marL="0" indent="0" algn="l">
              <a:buNone/>
            </a:pPr>
            <a:r>
              <a:rPr lang="en-US" altLang="zh-CN" dirty="0"/>
              <a:t>Evaluate probability calibration</a:t>
            </a:r>
          </a:p>
        </p:txBody>
      </p:sp>
      <p:sp>
        <p:nvSpPr>
          <p:cNvPr id="20" name="Shape 18"/>
          <p:cNvSpPr/>
          <p:nvPr>
            <p:custDataLst>
              <p:tags r:id="rId13"/>
            </p:custDataLst>
          </p:nvPr>
        </p:nvSpPr>
        <p:spPr>
          <a:xfrm>
            <a:off x="6510528" y="3543554"/>
            <a:ext cx="64008" cy="64008"/>
          </a:xfrm>
          <a:prstGeom prst="ellipse">
            <a:avLst/>
          </a:prstGeom>
          <a:solidFill>
            <a:srgbClr val="2E75B6"/>
          </a:solidFill>
          <a:ln w="12700">
            <a:solidFill>
              <a:srgbClr val="2E75B6">
                <a:alpha val="0"/>
              </a:srgbClr>
            </a:solidFill>
            <a:prstDash val="solid"/>
          </a:ln>
        </p:spPr>
      </p:sp>
      <p:sp>
        <p:nvSpPr>
          <p:cNvPr id="21" name="Text 19"/>
          <p:cNvSpPr/>
          <p:nvPr>
            <p:custDataLst>
              <p:tags r:id="rId14"/>
            </p:custDataLst>
          </p:nvPr>
        </p:nvSpPr>
        <p:spPr>
          <a:xfrm>
            <a:off x="6656705" y="3475990"/>
            <a:ext cx="5059680" cy="514350"/>
          </a:xfrm>
          <a:prstGeom prst="rect">
            <a:avLst/>
          </a:prstGeom>
          <a:noFill/>
        </p:spPr>
        <p:txBody>
          <a:bodyPr wrap="square" lIns="0" tIns="0" rIns="0" bIns="0" rtlCol="0" anchor="t">
            <a:noAutofit/>
          </a:bodyPr>
          <a:lstStyle/>
          <a:p>
            <a:pPr marL="0" indent="0" algn="l">
              <a:buNone/>
            </a:pPr>
            <a:r>
              <a:rPr lang="en-US" altLang="zh-CN" dirty="0"/>
              <a:t>Examine fairness across customer segments</a:t>
            </a:r>
          </a:p>
        </p:txBody>
      </p:sp>
      <p:sp>
        <p:nvSpPr>
          <p:cNvPr id="23" name="文本框 22"/>
          <p:cNvSpPr txBox="1"/>
          <p:nvPr/>
        </p:nvSpPr>
        <p:spPr>
          <a:xfrm>
            <a:off x="299720" y="4674235"/>
            <a:ext cx="11684000" cy="1131570"/>
          </a:xfrm>
          <a:prstGeom prst="rect">
            <a:avLst/>
          </a:prstGeom>
          <a:noFill/>
        </p:spPr>
        <p:txBody>
          <a:bodyPr wrap="square" rtlCol="0">
            <a:noAutofit/>
          </a:bodyPr>
          <a:lstStyle/>
          <a:p>
            <a:r>
              <a:rPr lang="en-US" altLang="zh-CN" sz="2300">
                <a:solidFill>
                  <a:schemeClr val="accent1">
                    <a:lumMod val="75000"/>
                  </a:schemeClr>
                </a:solidFill>
                <a:latin typeface="方正粗黑宋简体" panose="02000000000000000000" charset="-122"/>
                <a:ea typeface="方正粗黑宋简体" panose="02000000000000000000" charset="-122"/>
              </a:rPr>
              <a:t>Final takeaway: evaluate targeting by positive-class retrieval, not raw accuracy.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4E79"/>
          </a:solidFill>
          <a:ln w="12700">
            <a:solidFill>
              <a:srgbClr val="1F4E79"/>
            </a:solidFill>
            <a:prstDash val="solid"/>
          </a:ln>
        </p:spPr>
      </p:sp>
      <p:sp>
        <p:nvSpPr>
          <p:cNvPr id="3" name="Text 1"/>
          <p:cNvSpPr/>
          <p:nvPr/>
        </p:nvSpPr>
        <p:spPr>
          <a:xfrm>
            <a:off x="1097280" y="2331720"/>
            <a:ext cx="9966960" cy="640080"/>
          </a:xfrm>
          <a:prstGeom prst="rect">
            <a:avLst/>
          </a:prstGeom>
          <a:noFill/>
        </p:spPr>
        <p:txBody>
          <a:bodyPr wrap="square" lIns="0" tIns="0" rIns="0" bIns="0" rtlCol="0" anchor="ctr">
            <a:normAutofit/>
          </a:bodyPr>
          <a:lstStyle/>
          <a:p>
            <a:pPr marL="0" indent="0" algn="ctr">
              <a:buNone/>
            </a:pPr>
            <a:r>
              <a:rPr lang="en-US" sz="3600" b="1" dirty="0">
                <a:solidFill>
                  <a:srgbClr val="1F4E79"/>
                </a:solidFill>
                <a:latin typeface="Arial" panose="020B0604020202020204" pitchFamily="34" charset="0"/>
                <a:ea typeface="Arial" panose="020B0604020202020204" pitchFamily="34" charset="-122"/>
                <a:cs typeface="Arial" panose="020B0604020202020204" pitchFamily="34" charset="-120"/>
              </a:rPr>
              <a:t>Thank you -- Q&amp;A?</a:t>
            </a:r>
            <a:endParaRPr lang="en-US" sz="3600" dirty="0"/>
          </a:p>
        </p:txBody>
      </p:sp>
      <p:sp>
        <p:nvSpPr>
          <p:cNvPr id="4" name="Text 2"/>
          <p:cNvSpPr/>
          <p:nvPr/>
        </p:nvSpPr>
        <p:spPr>
          <a:xfrm>
            <a:off x="1920240" y="3246120"/>
            <a:ext cx="8321040" cy="274320"/>
          </a:xfrm>
          <a:prstGeom prst="rect">
            <a:avLst/>
          </a:prstGeom>
          <a:noFill/>
        </p:spPr>
        <p:txBody>
          <a:bodyPr wrap="square" lIns="0" tIns="0" rIns="0" bIns="0" rtlCol="0" anchor="t">
            <a:normAutofit/>
          </a:bodyPr>
          <a:lstStyle/>
          <a:p>
            <a:pPr marL="0" indent="0" algn="ctr">
              <a:buNone/>
            </a:pPr>
            <a:r>
              <a:rPr lang="en-US" sz="1600" dirty="0">
                <a:solidFill>
                  <a:srgbClr val="1F2937"/>
                </a:solidFill>
                <a:latin typeface="Arial" panose="020B0604020202020204" pitchFamily="34" charset="0"/>
                <a:ea typeface="Arial" panose="020B0604020202020204" pitchFamily="34" charset="-122"/>
                <a:cs typeface="Arial" panose="020B0604020202020204" pitchFamily="34" charset="-120"/>
              </a:rPr>
              <a:t>Chaoran Chen  ·  Haoyang Liu  ·  Haonan Li</a:t>
            </a:r>
            <a:endParaRPr lang="en-US" sz="1600" dirty="0"/>
          </a:p>
        </p:txBody>
      </p:sp>
      <p:sp>
        <p:nvSpPr>
          <p:cNvPr id="5" name="Shape 3"/>
          <p:cNvSpPr/>
          <p:nvPr/>
        </p:nvSpPr>
        <p:spPr>
          <a:xfrm>
            <a:off x="2240280" y="5440680"/>
            <a:ext cx="7726680" cy="0"/>
          </a:xfrm>
          <a:prstGeom prst="line">
            <a:avLst/>
          </a:prstGeom>
          <a:noFill/>
          <a:ln w="12700">
            <a:solidFill>
              <a:srgbClr val="D9D9D9"/>
            </a:solidFill>
            <a:prstDash val="solid"/>
          </a:ln>
        </p:spPr>
      </p:sp>
      <p:sp>
        <p:nvSpPr>
          <p:cNvPr id="6" name="Text 4"/>
          <p:cNvSpPr/>
          <p:nvPr/>
        </p:nvSpPr>
        <p:spPr>
          <a:xfrm>
            <a:off x="2194560" y="5632704"/>
            <a:ext cx="7818120" cy="219456"/>
          </a:xfrm>
          <a:prstGeom prst="rect">
            <a:avLst/>
          </a:prstGeom>
          <a:noFill/>
        </p:spPr>
        <p:txBody>
          <a:bodyPr wrap="square" lIns="0" tIns="0" rIns="0" bIns="0" rtlCol="0" anchor="t">
            <a:normAutofit/>
          </a:bodyPr>
          <a:lstStyle/>
          <a:p>
            <a:pPr marL="0" indent="0" algn="ctr">
              <a:buNone/>
            </a:pPr>
            <a:r>
              <a:rPr lang="en-US" sz="1100" dirty="0">
                <a:solidFill>
                  <a:srgbClr val="7F7F7F"/>
                </a:solidFill>
                <a:latin typeface="Arial" panose="020B0604020202020204" pitchFamily="34" charset="0"/>
                <a:ea typeface="Arial" panose="020B0604020202020204" pitchFamily="34" charset="-122"/>
                <a:cs typeface="Arial" panose="020B0604020202020204" pitchFamily="34" charset="-120"/>
              </a:rPr>
              <a:t>UCI Bank Marketing dataset · Moro, Cortez &amp; Rita (2014)</a:t>
            </a:r>
            <a:endParaRPr lang="en-US" sz="11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42*168"/>
  <p:tag name="TABLE_ENDDRAG_RECT" val="55*64*842*16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84.29,&quot;left&quot;:33.6,&quot;top&quot;:233.26,&quot;width&quot;:885.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4.29,&quot;left&quot;:33.6,&quot;top&quot;:233.26,&quot;width&quot;:885.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4.29,&quot;left&quot;:33.6,&quot;top&quot;:233.26,&quot;width&quot;:885.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4.29,&quot;left&quot;:33.6,&quot;top&quot;:233.26,&quot;width&quot;:885.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4.29,&quot;left&quot;:33.6,&quot;top&quot;:233.26,&quot;width&quot;:885.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28.26000000000005,&quot;left&quot;:73.44,&quot;top&quot;:158.4,&quot;width&quot;:806.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1984</Words>
  <Application>Microsoft Office PowerPoint</Application>
  <PresentationFormat>宽屏</PresentationFormat>
  <Paragraphs>259</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方正粗黑宋简体</vt:lpstr>
      <vt:lpstr>Arial</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STAT 474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Likely Term-Deposit Subscribers Under Class Imbalance</dc:title>
  <dc:subject>Bank Marketing under Class Imbalance</dc:subject>
  <dc:creator>Chaoran Chen, Haoyang Liu, Haonan Li</dc:creator>
  <cp:lastModifiedBy>chaoran chen</cp:lastModifiedBy>
  <cp:revision>4</cp:revision>
  <dcterms:created xsi:type="dcterms:W3CDTF">2026-05-08T17:21:05Z</dcterms:created>
  <dcterms:modified xsi:type="dcterms:W3CDTF">2026-05-08T19:22:26Z</dcterms:modified>
</cp:coreProperties>
</file>